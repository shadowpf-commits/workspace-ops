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Gobs 功能 Pipeline</a:t>
            </a:r>
          </a:p>
          <a:p>
            <a:pPr>
              <a:defRPr sz="2200" b="0">
                <a:solidFill>
                  <a:srgbClr val="5B8BD4"/>
                </a:solidFill>
              </a:defRPr>
            </a:pPr>
            <a:r>
              <a:t>AI 发行内容制作平台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0"/>
            <a:ext cx="10972800" cy="914400"/>
          </a:xfrm>
          <a:prstGeom prst="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D3748"/>
                </a:solidFill>
              </a:defRPr>
            </a:pPr>
            <a:r>
              <a:t>核心目标：30天实现素材自动化 → 60天数据洞察闭环 → 年底完整独立发行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718096"/>
                </a:solidFill>
              </a:defRPr>
            </a:pPr>
            <a:r>
              <a:t>2026年4月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我们最终成为什么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FFFFFF"/>
                </a:solidFill>
              </a:defRPr>
            </a:pPr>
            <a:r>
              <a:t>一个基于 AI 的自动化发行平台：输入知识库，输出一键可执行的完整发行方案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347472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472C4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365D"/>
                </a:solidFill>
              </a:defRPr>
            </a:pPr>
            <a:r>
              <a:t>结构化知识库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74720"/>
            <a:ext cx="1828800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8"/>
                </a:solidFill>
              </a:defRPr>
            </a:pPr>
            <a:r>
              <a:t>• 基于 Karpathy 工作流</a:t>
            </a:r>
            <a:br/>
            <a:r>
              <a:t>• 项目材料 → 冷启动</a:t>
            </a:r>
            <a:br/>
            <a:r>
              <a:t>• 知识积累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2286000"/>
            <a:ext cx="347472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4688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472C4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30175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365D"/>
                </a:solidFill>
              </a:defRPr>
            </a:pPr>
            <a:r>
              <a:t>Agent 网络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59" y="3474720"/>
            <a:ext cx="1828800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36576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8"/>
                </a:solidFill>
              </a:defRPr>
            </a:pPr>
            <a:r>
              <a:t>• 决策 / 执行 / 监控</a:t>
            </a:r>
            <a:br/>
            <a:r>
              <a:t>• 多类型 Agent 协同</a:t>
            </a:r>
            <a:br/>
            <a:r>
              <a:t>• 自动化工作流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2286000"/>
            <a:ext cx="347472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9" y="24688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472C4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30175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365D"/>
                </a:solidFill>
              </a:defRPr>
            </a:pPr>
            <a:r>
              <a:t>一键输出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599" y="3474720"/>
            <a:ext cx="1828800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9" y="36576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8"/>
                </a:solidFill>
              </a:defRPr>
            </a:pPr>
            <a:r>
              <a:t>• Community Plan</a:t>
            </a:r>
            <a:br/>
            <a:r>
              <a:t>• Budget/Event Plan</a:t>
            </a:r>
            <a:br/>
            <a:r>
              <a:t>• KOC 建设计划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我们目前在哪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228600"/>
            <a:ext cx="1097280" cy="3657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228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建设中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256032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2560320" cy="4572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输入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3748"/>
                </a:solidFill>
              </a:defRPr>
            </a:pPr>
            <a:r>
              <a:t>• 游戏声量（爬虫）</a:t>
            </a:r>
          </a:p>
          <a:p>
            <a:pPr>
              <a:defRPr sz="1200" b="0">
                <a:solidFill>
                  <a:srgbClr val="2D3748"/>
                </a:solidFill>
              </a:defRPr>
            </a:pPr>
            <a:r>
              <a:t>• 游戏舆情</a:t>
            </a:r>
          </a:p>
          <a:p>
            <a:pPr>
              <a:defRPr sz="1200" b="0">
                <a:solidFill>
                  <a:srgbClr val="2D3748"/>
                </a:solidFill>
              </a:defRPr>
            </a:pPr>
            <a:r>
              <a:t>• Ingame数据</a:t>
            </a:r>
          </a:p>
          <a:p>
            <a:pPr>
              <a:defRPr sz="1200" b="0">
                <a:solidFill>
                  <a:srgbClr val="2D3748"/>
                </a:solidFill>
              </a:defRPr>
            </a:pPr>
            <a:r>
              <a:t>• OM获客（暂无）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005840"/>
            <a:ext cx="2651760" cy="2926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64592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Gobs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3774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5B8BD4"/>
                </a:solidFill>
              </a:defRPr>
            </a:pPr>
            <a:r>
              <a:t>平台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9260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Campaign（规划中）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005840"/>
            <a:ext cx="25603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005840"/>
            <a:ext cx="2560320" cy="45720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0058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输出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645920"/>
            <a:ext cx="2194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D3748"/>
                </a:solidFill>
              </a:defRPr>
            </a:pPr>
            <a:r>
              <a:t>✓ 素材生成与分发</a:t>
            </a:r>
          </a:p>
          <a:p>
            <a:pPr>
              <a:defRPr sz="1100" b="0">
                <a:solidFill>
                  <a:srgbClr val="2D3748"/>
                </a:solidFill>
              </a:defRPr>
            </a:pPr>
            <a:r>
              <a:t>✓ 水军运营</a:t>
            </a:r>
          </a:p>
          <a:p>
            <a:pPr>
              <a:defRPr sz="1100" b="0">
                <a:solidFill>
                  <a:srgbClr val="2D3748"/>
                </a:solidFill>
              </a:defRPr>
            </a:pPr>
          </a:p>
          <a:p>
            <a:pPr>
              <a:defRPr sz="1100" b="0">
                <a:solidFill>
                  <a:srgbClr val="2D3748"/>
                </a:solidFill>
              </a:defRPr>
            </a:pPr>
            <a:r>
              <a:t>→ Community Plan</a:t>
            </a:r>
          </a:p>
          <a:p>
            <a:pPr>
              <a:defRPr sz="1100" b="0">
                <a:solidFill>
                  <a:srgbClr val="2D3748"/>
                </a:solidFill>
              </a:defRPr>
            </a:pPr>
            <a:r>
              <a:t>→ Budget Plan</a:t>
            </a:r>
          </a:p>
          <a:p>
            <a:pPr>
              <a:defRPr sz="1100" b="0">
                <a:solidFill>
                  <a:srgbClr val="2D3748"/>
                </a:solidFill>
              </a:defRPr>
            </a:pPr>
            <a:r>
              <a:t>→ Event Plan</a:t>
            </a:r>
          </a:p>
          <a:p>
            <a:pPr>
              <a:defRPr sz="1100" b="0">
                <a:solidFill>
                  <a:srgbClr val="2D3748"/>
                </a:solidFill>
              </a:defRPr>
            </a:pPr>
            <a:r>
              <a:t>→ KOC建设计划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10972800" cy="54864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718096"/>
                </a:solidFill>
              </a:defRPr>
            </a:pPr>
            <a:r>
              <a:t>前提：进来需先绑定游戏 | 知识库基于 Andrej Karpathy 工作流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941832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54480" y="1325880"/>
            <a:ext cx="365760" cy="365760"/>
          </a:xfrm>
          <a:prstGeom prst="ellipse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718096"/>
                </a:solidFill>
              </a:defRPr>
            </a:pPr>
            <a:r>
              <a:t>现在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4747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3474720" cy="4572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4月底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77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D3748"/>
                </a:solidFill>
              </a:defRPr>
            </a:pPr>
            <a:r>
              <a:t>验证：AOV 水军投入使用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0896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3748"/>
                </a:solidFill>
              </a:defRPr>
            </a:pPr>
            <a:r>
              <a:t>• 素材生成</a:t>
            </a:r>
          </a:p>
          <a:p>
            <a:pPr>
              <a:defRPr sz="1200" b="0">
                <a:solidFill>
                  <a:srgbClr val="2D3748"/>
                </a:solidFill>
              </a:defRPr>
            </a:pPr>
            <a:r>
              <a:t>• 水军运营</a:t>
            </a:r>
          </a:p>
          <a:p>
            <a:pPr>
              <a:defRPr sz="1200" b="0">
                <a:solidFill>
                  <a:srgbClr val="2D3748"/>
                </a:solidFill>
              </a:defRPr>
            </a:pPr>
            <a:r>
              <a:t>• 视频粗剪</a:t>
            </a:r>
          </a:p>
        </p:txBody>
      </p:sp>
      <p:sp>
        <p:nvSpPr>
          <p:cNvPr id="12" name="Oval 11"/>
          <p:cNvSpPr/>
          <p:nvPr/>
        </p:nvSpPr>
        <p:spPr>
          <a:xfrm>
            <a:off x="5303520" y="1325880"/>
            <a:ext cx="365760" cy="36576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0058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472C4"/>
                </a:solidFill>
              </a:defRPr>
            </a:pPr>
            <a:r>
              <a:t>4月底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828800"/>
            <a:ext cx="34747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828800"/>
            <a:ext cx="3474720" cy="457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18288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6月底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377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D3748"/>
                </a:solidFill>
              </a:defRPr>
            </a:pPr>
            <a:r>
              <a:t>验证：GNG泰国 独立发行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10896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3748"/>
                </a:solidFill>
              </a:defRPr>
            </a:pPr>
            <a:r>
              <a:t>• 数据洞察</a:t>
            </a:r>
          </a:p>
          <a:p>
            <a:pPr>
              <a:defRPr sz="1200" b="0">
                <a:solidFill>
                  <a:srgbClr val="2D3748"/>
                </a:solidFill>
              </a:defRPr>
            </a:pPr>
            <a:r>
              <a:t>• 主动式Agent</a:t>
            </a:r>
          </a:p>
          <a:p>
            <a:pPr>
              <a:defRPr sz="1200" b="0">
                <a:solidFill>
                  <a:srgbClr val="2D3748"/>
                </a:solidFill>
              </a:defRPr>
            </a:pPr>
            <a:r>
              <a:t>• 舆情监控</a:t>
            </a:r>
          </a:p>
        </p:txBody>
      </p:sp>
      <p:sp>
        <p:nvSpPr>
          <p:cNvPr id="19" name="Oval 18"/>
          <p:cNvSpPr/>
          <p:nvPr/>
        </p:nvSpPr>
        <p:spPr>
          <a:xfrm>
            <a:off x="9052559" y="1325880"/>
            <a:ext cx="365760" cy="365760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10058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B365D"/>
                </a:solidFill>
              </a:defRPr>
            </a:pPr>
            <a:r>
              <a:t>6月底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1828800"/>
            <a:ext cx="34747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79" y="1828800"/>
            <a:ext cx="3474720" cy="4572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18288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年底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377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D3748"/>
                </a:solidFill>
              </a:defRPr>
            </a:pPr>
            <a:r>
              <a:t>验证：孵化项目 全流程验证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10896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3748"/>
                </a:solidFill>
              </a:defRPr>
            </a:pPr>
            <a:r>
              <a:t>• 完整闭环</a:t>
            </a:r>
          </a:p>
          <a:p>
            <a:pPr>
              <a:defRPr sz="1200" b="0">
                <a:solidFill>
                  <a:srgbClr val="2D3748"/>
                </a:solidFill>
              </a:defRPr>
            </a:pPr>
            <a:r>
              <a:t>• 一键生成</a:t>
            </a:r>
          </a:p>
          <a:p>
            <a:pPr>
              <a:defRPr sz="1200" b="0">
                <a:solidFill>
                  <a:srgbClr val="2D3748"/>
                </a:solidFill>
              </a:defRPr>
            </a:pPr>
            <a:r>
              <a:t>• 甩脱依赖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Day 0-30：当前阶段进度（4月底目标）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93192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已完成 — 前20天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3566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8"/>
                </a:solidFill>
              </a:defRPr>
            </a:pPr>
            <a:r>
              <a:t>✓ 视频内容分析</a:t>
            </a:r>
          </a:p>
          <a:p>
            <a:pPr>
              <a:defRPr sz="1300" b="0">
                <a:solidFill>
                  <a:srgbClr val="2D3748"/>
                </a:solidFill>
              </a:defRPr>
            </a:pPr>
            <a:r>
              <a:t>✓ AI 粗剪流程</a:t>
            </a:r>
          </a:p>
          <a:p>
            <a:pPr>
              <a:defRPr sz="1300" b="0">
                <a:solidFill>
                  <a:srgbClr val="2D3748"/>
                </a:solidFill>
              </a:defRPr>
            </a:pPr>
            <a:r>
              <a:t>✓ 背景音乐匹配</a:t>
            </a:r>
          </a:p>
          <a:p>
            <a:pPr>
              <a:defRPr sz="1300" b="0">
                <a:solidFill>
                  <a:srgbClr val="2D3748"/>
                </a:solidFill>
              </a:defRPr>
            </a:pPr>
            <a:r>
              <a:t>✓ 素材分发基础框架</a:t>
            </a:r>
          </a:p>
          <a:p>
            <a:pPr>
              <a:defRPr sz="1300" b="0">
                <a:solidFill>
                  <a:srgbClr val="2D3748"/>
                </a:solidFill>
              </a:defRPr>
            </a:pPr>
            <a:r>
              <a:t>✓ 水军运营策略设计</a:t>
            </a:r>
          </a:p>
          <a:p>
            <a:pPr>
              <a:defRPr sz="1300" b="0">
                <a:solidFill>
                  <a:srgbClr val="2D3748"/>
                </a:solidFill>
              </a:defRPr>
            </a:pPr>
            <a:r>
              <a:t>✓ 用户资产隔离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005840"/>
            <a:ext cx="393192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进行中 — 到4月底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645920"/>
            <a:ext cx="3566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8"/>
                </a:solidFill>
              </a:defRPr>
            </a:pPr>
            <a:r>
              <a:t>□ 视频生成标准化</a:t>
            </a:r>
          </a:p>
          <a:p>
            <a:pPr>
              <a:defRPr sz="1300" b="0">
                <a:solidFill>
                  <a:srgbClr val="2D3748"/>
                </a:solidFill>
              </a:defRPr>
            </a:pPr>
            <a:r>
              <a:t>□ 角色/场景一致性</a:t>
            </a:r>
          </a:p>
          <a:p>
            <a:pPr>
              <a:defRPr sz="1300" b="0">
                <a:solidFill>
                  <a:srgbClr val="2D3748"/>
                </a:solidFill>
              </a:defRPr>
            </a:pPr>
            <a:r>
              <a:t>□ 水军 Agent 上线</a:t>
            </a:r>
          </a:p>
          <a:p>
            <a:pPr>
              <a:defRPr sz="1300" b="0">
                <a:solidFill>
                  <a:srgbClr val="2D3748"/>
                </a:solidFill>
              </a:defRPr>
            </a:pPr>
            <a:r>
              <a:t>□ 系统稳定性测试</a:t>
            </a:r>
          </a:p>
          <a:p>
            <a:pPr>
              <a:defRPr sz="1300" b="0">
                <a:solidFill>
                  <a:srgbClr val="2D3748"/>
                </a:solidFill>
              </a:defRPr>
            </a:pPr>
            <a:r>
              <a:t>□ FFmpeg 预处理优化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Day 30-60：6月底目标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228600"/>
            <a:ext cx="1097280" cy="3657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0" y="228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本期重点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34747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3474720" cy="457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数据洞察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3748"/>
                </a:solidFill>
              </a:defRPr>
            </a:pPr>
            <a:r>
              <a:t>• 爬虫接入</a:t>
            </a:r>
          </a:p>
          <a:p>
            <a:pPr>
              <a:defRPr sz="1200" b="0">
                <a:solidFill>
                  <a:srgbClr val="2D3748"/>
                </a:solidFill>
              </a:defRPr>
            </a:pPr>
            <a:r>
              <a:t>• 声量分析</a:t>
            </a:r>
          </a:p>
          <a:p>
            <a:pPr>
              <a:defRPr sz="1200" b="0">
                <a:solidFill>
                  <a:srgbClr val="2D3748"/>
                </a:solidFill>
              </a:defRPr>
            </a:pPr>
            <a:r>
              <a:t>• 舆情监控</a:t>
            </a:r>
          </a:p>
          <a:p>
            <a:pPr>
              <a:defRPr sz="1200" b="0">
                <a:solidFill>
                  <a:srgbClr val="2D3748"/>
                </a:solidFill>
              </a:defRPr>
            </a:pPr>
            <a:r>
              <a:t>• ST API数据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005840"/>
            <a:ext cx="34747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005840"/>
            <a:ext cx="3474720" cy="457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主动式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6459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3748"/>
                </a:solidFill>
              </a:defRPr>
            </a:pPr>
            <a:r>
              <a:t>• 发行方案生成</a:t>
            </a:r>
          </a:p>
          <a:p>
            <a:pPr>
              <a:defRPr sz="1200" b="0">
                <a:solidFill>
                  <a:srgbClr val="2D3748"/>
                </a:solidFill>
              </a:defRPr>
            </a:pPr>
            <a:r>
              <a:t>• 决策链路</a:t>
            </a:r>
          </a:p>
          <a:p>
            <a:pPr>
              <a:defRPr sz="1200" b="0">
                <a:solidFill>
                  <a:srgbClr val="2D3748"/>
                </a:solidFill>
              </a:defRPr>
            </a:pPr>
            <a:r>
              <a:t>• 执行与监控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005840"/>
            <a:ext cx="34747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005840"/>
            <a:ext cx="3474720" cy="457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输出能力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16459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3748"/>
                </a:solidFill>
              </a:defRPr>
            </a:pPr>
            <a:r>
              <a:t>• Community Plan</a:t>
            </a:r>
          </a:p>
          <a:p>
            <a:pPr>
              <a:defRPr sz="1200" b="0">
                <a:solidFill>
                  <a:srgbClr val="2D3748"/>
                </a:solidFill>
              </a:defRPr>
            </a:pPr>
            <a:r>
              <a:t>• Budget Plan</a:t>
            </a:r>
          </a:p>
          <a:p>
            <a:pPr>
              <a:defRPr sz="1200" b="0">
                <a:solidFill>
                  <a:srgbClr val="2D3748"/>
                </a:solidFill>
              </a:defRPr>
            </a:pPr>
            <a:r>
              <a:t>• Event Plan</a:t>
            </a:r>
          </a:p>
          <a:p>
            <a:pPr>
              <a:defRPr sz="1200" b="0">
                <a:solidFill>
                  <a:srgbClr val="2D3748"/>
                </a:solidFill>
              </a:defRPr>
            </a:pPr>
            <a:r>
              <a:t>• KOC建设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31920"/>
            <a:ext cx="10972800" cy="54864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77639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718096"/>
                </a:solidFill>
              </a:defRPr>
            </a:pPr>
            <a:r>
              <a:t>本期不重点：视频产出、水军运营（已上线，持续运行）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一年计划：90天详细路线（到6月底）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4747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474720" cy="457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 结构化知识库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3748"/>
                </a:solidFill>
              </a:defRPr>
            </a:pPr>
            <a:r>
              <a:t>• Karpathy工作流 • GNG材料冷启动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3832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472C4"/>
                </a:solidFill>
              </a:defRPr>
            </a:pPr>
            <a:r>
              <a:t>进行中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005840"/>
            <a:ext cx="34747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005840"/>
            <a:ext cx="3474720" cy="4572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 GNG发行知识库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6459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3748"/>
                </a:solidFill>
              </a:defRPr>
            </a:pPr>
            <a:r>
              <a:t>• OM创意/预算 • Community/Influencer • 方案质量≥80%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3832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B365D"/>
                </a:solidFill>
              </a:defRPr>
            </a:pPr>
            <a:r>
              <a:t>规划中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005840"/>
            <a:ext cx="34747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005840"/>
            <a:ext cx="3474720" cy="4572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 更多Action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16459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3748"/>
                </a:solidFill>
              </a:defRPr>
            </a:pPr>
            <a:r>
              <a:t>• Community Post Agent • 日报/周报Agent • Latte/社交/ST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3832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B365D"/>
                </a:solidFill>
              </a:defRPr>
            </a:pPr>
            <a:r>
              <a:t>规划中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6052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718096"/>
                </a:solidFill>
              </a:defRPr>
            </a:pPr>
            <a:r>
              <a:t>Agent List 扩展：覆盖规划/决策/执行/监控关键节点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年底目标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93192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功能完成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8"/>
                </a:solidFill>
              </a:defRPr>
            </a:pPr>
            <a:r>
              <a:t>• 完成 P1/P2 功能</a:t>
            </a:r>
          </a:p>
          <a:p>
            <a:pPr>
              <a:defRPr sz="1300" b="0">
                <a:solidFill>
                  <a:srgbClr val="2D3748"/>
                </a:solidFill>
              </a:defRPr>
            </a:pPr>
            <a:r>
              <a:t>• 发行能力更健壮</a:t>
            </a:r>
          </a:p>
          <a:p>
            <a:pPr>
              <a:defRPr sz="1300" b="0">
                <a:solidFill>
                  <a:srgbClr val="2D3748"/>
                </a:solidFill>
              </a:defRPr>
            </a:pPr>
            <a:r>
              <a:t>• Skills + MD 复用到更多产品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005840"/>
            <a:ext cx="393192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005840"/>
            <a:ext cx="3931920" cy="45720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0058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 优化思考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64592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748"/>
                </a:solidFill>
              </a:defRPr>
            </a:pPr>
            <a:r>
              <a:t>• 用户离研发更近：智能客服</a:t>
            </a:r>
          </a:p>
          <a:p>
            <a:pPr>
              <a:defRPr sz="1300" b="0">
                <a:solidFill>
                  <a:srgbClr val="2D3748"/>
                </a:solidFill>
              </a:defRPr>
            </a:pPr>
            <a:r>
              <a:t>• 研发离用户更近</a:t>
            </a:r>
          </a:p>
          <a:p>
            <a:pPr>
              <a:defRPr sz="1300" b="0">
                <a:solidFill>
                  <a:srgbClr val="2D3748"/>
                </a:solidFill>
              </a:defRPr>
            </a:pPr>
            <a:r>
              <a:t>  Agent 美化问题收集反馈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10972800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孵化项目：一个产品全流程独立发行验证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立即行动项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914400" cy="50292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05156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D3748"/>
                </a:solidFill>
              </a:defRPr>
            </a:pPr>
            <a:r>
              <a:t>视频生成标准化 + 角色一致性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39"/>
            <a:ext cx="914400" cy="50292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39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91639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D3748"/>
                </a:solidFill>
              </a:defRPr>
            </a:pPr>
            <a:r>
              <a:t>水军 Agent 训练 + 上线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31720"/>
            <a:ext cx="914400" cy="502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D3748"/>
                </a:solidFill>
              </a:defRPr>
            </a:pPr>
            <a:r>
              <a:t>爬虫接入 + 声量分析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71799"/>
            <a:ext cx="914400" cy="502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71799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71799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D3748"/>
                </a:solidFill>
              </a:defRPr>
            </a:pPr>
            <a:r>
              <a:t>舆情监控分渠道配置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11879"/>
            <a:ext cx="914400" cy="50292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11879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611879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D3748"/>
                </a:solidFill>
              </a:defRPr>
            </a:pPr>
            <a:r>
              <a:t>系统稳定性测试（5-10用户）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51960"/>
            <a:ext cx="914400" cy="50292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251960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25196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2D3748"/>
                </a:solidFill>
              </a:defRPr>
            </a:pPr>
            <a:r>
              <a:t>用户空间权限隔离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937760"/>
            <a:ext cx="10972800" cy="5486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98348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4月底 AOV验证 → 6月底 GNG泰国独立发行 → 年底 完整独立发行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