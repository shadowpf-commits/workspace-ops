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36576"/>
          </a:xfrm>
          <a:prstGeom prst="rect">
            <a:avLst/>
          </a:prstGeom>
          <a:solidFill>
            <a:srgbClr val="F5D78E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97280"/>
            <a:ext cx="54864" cy="2560320"/>
          </a:xfrm>
          <a:prstGeom prst="rect">
            <a:avLst/>
          </a:prstGeom>
          <a:solidFill>
            <a:srgbClr val="D4A853"/>
          </a:solidFill>
          <a:ln/>
          <a:effectLst>
            <a:outerShdw sx="100000" sy="100000" kx="0" ky="0" algn="bl" rotWithShape="0" blurRad="190500" dist="50800" dir="16200000">
              <a:srgbClr val="D4A853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 rot="2700000">
            <a:off x="502920" y="1371600"/>
            <a:ext cx="320040" cy="32004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6" name="Shape 4"/>
          <p:cNvSpPr/>
          <p:nvPr/>
        </p:nvSpPr>
        <p:spPr>
          <a:xfrm rot="2700000">
            <a:off x="594360" y="1691640"/>
            <a:ext cx="228600" cy="228600"/>
          </a:xfrm>
          <a:prstGeom prst="rect">
            <a:avLst/>
          </a:prstGeom>
          <a:solidFill>
            <a:srgbClr val="F5D78E"/>
          </a:solidFill>
          <a:ln/>
        </p:spPr>
      </p:sp>
      <p:sp>
        <p:nvSpPr>
          <p:cNvPr id="7" name="Shape 5"/>
          <p:cNvSpPr/>
          <p:nvPr/>
        </p:nvSpPr>
        <p:spPr>
          <a:xfrm rot="2700000">
            <a:off x="658368" y="1965960"/>
            <a:ext cx="164592" cy="16459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1371600"/>
            <a:ext cx="7315200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spc="600" kern="0" dirty="0">
                <a:solidFill>
                  <a:srgbClr val="D4A8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GOLD AND GLORY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1097280" y="22860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7月大版本完整发行策略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09728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D7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Arena  ·  PVE  ·  3C升级  ·  UA买量  ·  本地化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97280" y="3657600"/>
            <a:ext cx="2286000" cy="18288"/>
          </a:xfrm>
          <a:prstGeom prst="rect">
            <a:avLst/>
          </a:prstGeom>
          <a:solidFill>
            <a:srgbClr val="D4A853">
              <a:alpha val="5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2700000">
            <a:off x="3474720" y="3611880"/>
            <a:ext cx="109728" cy="109728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2026年4月  |  Confidential — Internal Use Only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D4A85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58952"/>
            <a:ext cx="9144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" name="Shape 2"/>
          <p:cNvSpPr/>
          <p:nvPr/>
        </p:nvSpPr>
        <p:spPr>
          <a:xfrm rot="2700000">
            <a:off x="411480" y="201168"/>
            <a:ext cx="365760" cy="36576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82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产品核心定位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10058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05840"/>
            <a:ext cx="73152" cy="100584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9601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1097280" y="10972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进去抢，活着出来就是你的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97280" y="1600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G&amp;G 核心 USP，Mobile Extraction Shooter 独家机制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4069080" cy="12801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194560"/>
            <a:ext cx="54864" cy="128016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2331720"/>
            <a:ext cx="457200" cy="457200"/>
          </a:xfrm>
          <a:prstGeom prst="ellipse">
            <a:avLst/>
          </a:prstGeom>
          <a:solidFill>
            <a:srgbClr val="21262D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⚔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23591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产品定位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27889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中世纪地牢 Extraction RPG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5–15分钟快节奏单局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赛季制 + 英雄收集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17720" y="2194560"/>
            <a:ext cx="4069080" cy="12801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2194560"/>
            <a:ext cx="54864" cy="128016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9" name="Shape 17"/>
          <p:cNvSpPr/>
          <p:nvPr/>
        </p:nvSpPr>
        <p:spPr>
          <a:xfrm>
            <a:off x="4800600" y="2331720"/>
            <a:ext cx="457200" cy="457200"/>
          </a:xfrm>
          <a:prstGeom prst="ellipse">
            <a:avLst/>
          </a:prstGeom>
          <a:solidFill>
            <a:srgbClr val="21262D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🛡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349240" y="23591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核心特色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800600" y="27889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端独家 Extraction Shooter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风险回报机制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死后全失的刺激感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657600"/>
            <a:ext cx="4069080" cy="12801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657600"/>
            <a:ext cx="54864" cy="128016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3794760"/>
            <a:ext cx="457200" cy="457200"/>
          </a:xfrm>
          <a:prstGeom prst="ellipse">
            <a:avLst/>
          </a:prstGeom>
          <a:solidFill>
            <a:srgbClr val="21262D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88720" y="382219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当前状态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40080" y="42519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Play 评分：3.7 ⚠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已测试：墨西哥、哥伦比亚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服务器：4–6月停服维护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17720" y="3657600"/>
            <a:ext cx="4069080" cy="12801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17720" y="3657600"/>
            <a:ext cx="54864" cy="128016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1" name="Shape 29"/>
          <p:cNvSpPr/>
          <p:nvPr/>
        </p:nvSpPr>
        <p:spPr>
          <a:xfrm>
            <a:off x="4800600" y="3794760"/>
            <a:ext cx="457200" cy="457200"/>
          </a:xfrm>
          <a:prstGeom prst="ellipse">
            <a:avLst/>
          </a:prstGeom>
          <a:solidFill>
            <a:srgbClr val="21262D"/>
          </a:solidFill>
          <a:ln/>
        </p:spPr>
      </p:sp>
      <p:sp>
        <p:nvSpPr>
          <p:cNvPr id="32" name="Text 30"/>
          <p:cNvSpPr/>
          <p:nvPr/>
        </p:nvSpPr>
        <p:spPr>
          <a:xfrm>
            <a:off x="480060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349240" y="382219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7月目标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800600" y="42519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7月大版本发布在即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3.7分是市场门槛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目标：7月前改善至 3.8–4.0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58952"/>
            <a:ext cx="9144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" name="Shape 2"/>
          <p:cNvSpPr/>
          <p:nvPr/>
        </p:nvSpPr>
        <p:spPr>
          <a:xfrm rot="2700000">
            <a:off x="411480" y="201168"/>
            <a:ext cx="365760" cy="36576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82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7月大版本核心内容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D7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三大营销素材支柱（按重要度排序）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2651760" cy="33832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325880"/>
            <a:ext cx="2651760" cy="73152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" y="1463040"/>
            <a:ext cx="640080" cy="411480"/>
          </a:xfrm>
          <a:prstGeom prst="roundRect">
            <a:avLst>
              <a:gd name="adj" fmla="val 11111"/>
            </a:avLst>
          </a:prstGeom>
          <a:solidFill>
            <a:srgbClr val="D4A853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46304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E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15087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853"/>
                </a:solidFill>
              </a:rPr>
              <a:t>★★★★★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325880" y="1920240"/>
            <a:ext cx="914400" cy="914400"/>
          </a:xfrm>
          <a:prstGeom prst="ellipse">
            <a:avLst/>
          </a:prstGeom>
          <a:solidFill>
            <a:srgbClr val="21262D"/>
          </a:solidFill>
          <a:ln/>
        </p:spPr>
      </p:sp>
      <p:sp>
        <p:nvSpPr>
          <p:cNvPr id="13" name="Text 11"/>
          <p:cNvSpPr/>
          <p:nvPr/>
        </p:nvSpPr>
        <p:spPr>
          <a:xfrm>
            <a:off x="1325880" y="19202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⚔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594360" y="2926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竞技场 Arena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3291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PVP核心玩法，天梯/排名，可做大量内容素材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" y="37490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天梯冲分 / 以弱胜强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公平竞技 / 新手逆袭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地牢风险回报 / 装备驱动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77240" y="4389120"/>
            <a:ext cx="2011680" cy="274320"/>
          </a:xfrm>
          <a:prstGeom prst="roundRect">
            <a:avLst>
              <a:gd name="adj" fmla="val 10000"/>
            </a:avLst>
          </a:prstGeom>
          <a:solidFill>
            <a:srgbClr val="D4A853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389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最高营销价值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91840" y="1325880"/>
            <a:ext cx="2651760" cy="33832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91840" y="1325880"/>
            <a:ext cx="2651760" cy="73152"/>
          </a:xfrm>
          <a:prstGeom prst="rect">
            <a:avLst/>
          </a:prstGeom>
          <a:solidFill>
            <a:srgbClr val="F5D78E"/>
          </a:solidFill>
          <a:ln/>
        </p:spPr>
      </p:sp>
      <p:sp>
        <p:nvSpPr>
          <p:cNvPr id="21" name="Shape 19"/>
          <p:cNvSpPr/>
          <p:nvPr/>
        </p:nvSpPr>
        <p:spPr>
          <a:xfrm>
            <a:off x="3429000" y="1463040"/>
            <a:ext cx="640080" cy="411480"/>
          </a:xfrm>
          <a:prstGeom prst="roundRect">
            <a:avLst>
              <a:gd name="adj" fmla="val 11111"/>
            </a:avLst>
          </a:prstGeom>
          <a:solidFill>
            <a:srgbClr val="F5D78E"/>
          </a:solidFill>
          <a:ln/>
        </p:spPr>
      </p:sp>
      <p:sp>
        <p:nvSpPr>
          <p:cNvPr id="22" name="Text 20"/>
          <p:cNvSpPr/>
          <p:nvPr/>
        </p:nvSpPr>
        <p:spPr>
          <a:xfrm>
            <a:off x="3429000" y="146304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E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#2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114800" y="15087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D78E"/>
                </a:solidFill>
              </a:rPr>
              <a:t>★★★★☆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60520" y="1920240"/>
            <a:ext cx="914400" cy="914400"/>
          </a:xfrm>
          <a:prstGeom prst="ellipse">
            <a:avLst/>
          </a:prstGeom>
          <a:solidFill>
            <a:srgbClr val="21262D"/>
          </a:solidFill>
          <a:ln/>
        </p:spPr>
      </p:sp>
      <p:sp>
        <p:nvSpPr>
          <p:cNvPr id="25" name="Text 23"/>
          <p:cNvSpPr/>
          <p:nvPr/>
        </p:nvSpPr>
        <p:spPr>
          <a:xfrm>
            <a:off x="4160520" y="19202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🗺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3429000" y="2926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PVE 模式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383280" y="3291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降低门槛，留存友好，适合「新手友好」叙事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429000" y="37490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新手友好 / 通关成就感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剧情体验 / 组队副本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11880" y="4389120"/>
            <a:ext cx="2011680" cy="274320"/>
          </a:xfrm>
          <a:prstGeom prst="roundRect">
            <a:avLst>
              <a:gd name="adj" fmla="val 10000"/>
            </a:avLst>
          </a:prstGeom>
          <a:solidFill>
            <a:srgbClr val="F5D78E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3611880" y="4389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D7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留存利器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26480" y="1325880"/>
            <a:ext cx="2651760" cy="33832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26480" y="1325880"/>
            <a:ext cx="2651760" cy="73152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3" name="Shape 31"/>
          <p:cNvSpPr/>
          <p:nvPr/>
        </p:nvSpPr>
        <p:spPr>
          <a:xfrm>
            <a:off x="6263640" y="1463040"/>
            <a:ext cx="640080" cy="411480"/>
          </a:xfrm>
          <a:prstGeom prst="roundRect">
            <a:avLst>
              <a:gd name="adj" fmla="val 11111"/>
            </a:avLst>
          </a:prstGeom>
          <a:solidFill>
            <a:srgbClr val="2DD4BF"/>
          </a:solidFill>
          <a:ln/>
        </p:spPr>
      </p:sp>
      <p:sp>
        <p:nvSpPr>
          <p:cNvPr id="34" name="Text 32"/>
          <p:cNvSpPr/>
          <p:nvPr/>
        </p:nvSpPr>
        <p:spPr>
          <a:xfrm>
            <a:off x="6263640" y="146304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E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#3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949440" y="15087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D4BF"/>
                </a:solidFill>
              </a:rPr>
              <a:t>★★★★☆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995160" y="1920240"/>
            <a:ext cx="914400" cy="914400"/>
          </a:xfrm>
          <a:prstGeom prst="ellipse">
            <a:avLst/>
          </a:prstGeom>
          <a:solidFill>
            <a:srgbClr val="21262D"/>
          </a:solidFill>
          <a:ln/>
        </p:spPr>
      </p:sp>
      <p:sp>
        <p:nvSpPr>
          <p:cNvPr id="37" name="Text 35"/>
          <p:cNvSpPr/>
          <p:nvPr/>
        </p:nvSpPr>
        <p:spPr>
          <a:xfrm>
            <a:off x="6995160" y="19202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🎮</a:t>
            </a:r>
            <a:endParaRPr lang="en-US" sz="3600" dirty="0"/>
          </a:p>
        </p:txBody>
      </p:sp>
      <p:sp>
        <p:nvSpPr>
          <p:cNvPr id="38" name="Text 36"/>
          <p:cNvSpPr/>
          <p:nvPr/>
        </p:nvSpPr>
        <p:spPr>
          <a:xfrm>
            <a:off x="6263640" y="2926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3C 核心升级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217920" y="3291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+ Camera + Character 整体升级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263640" y="37490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易用性（视野） · 操作性（精准度）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打击感（反馈） · 策略性（观察）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446520" y="4389120"/>
            <a:ext cx="2011680" cy="274320"/>
          </a:xfrm>
          <a:prstGeom prst="roundRect">
            <a:avLst>
              <a:gd name="adj" fmla="val 10000"/>
            </a:avLst>
          </a:prstGeom>
          <a:solidFill>
            <a:srgbClr val="2DD4BF">
              <a:alpha val="2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6446520" y="4389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核心玩法质变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三个内容支柱构成7月营销的核心素材库，所有广告素材、KOL合作均围绕这三个展开。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58952"/>
            <a:ext cx="9144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" name="Shape 2"/>
          <p:cNvSpPr/>
          <p:nvPr/>
        </p:nvSpPr>
        <p:spPr>
          <a:xfrm rot="2700000">
            <a:off x="411480" y="201168"/>
            <a:ext cx="365760" cy="36576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82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宣传讯息层级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6858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14400"/>
            <a:ext cx="73152" cy="68580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960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核心USP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120700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进去抢，活着出来就是你的（Extraction Shooter独家机制）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737360"/>
            <a:ext cx="8229600" cy="7315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737360"/>
            <a:ext cx="54864" cy="73152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2" name="Shape 10"/>
          <p:cNvSpPr/>
          <p:nvPr/>
        </p:nvSpPr>
        <p:spPr>
          <a:xfrm>
            <a:off x="658368" y="1874520"/>
            <a:ext cx="457200" cy="457200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E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181051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1 — 竞技刺激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80160" y="2103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切入角度：Arena天梯 / 以弱胜强 / 公平竞技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40480" y="181051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D7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目标用户：竞技型玩家 / BR玩家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0" y="21031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内容：地牢风险回报 / 装备驱动 / 死后全失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542032"/>
            <a:ext cx="8229600" cy="7315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542032"/>
            <a:ext cx="54864" cy="73152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20" name="Shape 18"/>
          <p:cNvSpPr/>
          <p:nvPr/>
        </p:nvSpPr>
        <p:spPr>
          <a:xfrm>
            <a:off x="658368" y="2679192"/>
            <a:ext cx="457200" cy="457200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2679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E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2615184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2 — 社交组队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80160" y="29077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切入角度：和朋友下地牢 / 组队开黑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840480" y="2615184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D7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目标用户：社交型玩家 / 东南亚/拉美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840480" y="290779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内容：10-15分钟快节奏 / 碎片时间友好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3346704"/>
            <a:ext cx="8229600" cy="7315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346704"/>
            <a:ext cx="54864" cy="73152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28" name="Shape 26"/>
          <p:cNvSpPr/>
          <p:nvPr/>
        </p:nvSpPr>
        <p:spPr>
          <a:xfrm>
            <a:off x="658368" y="3483864"/>
            <a:ext cx="457200" cy="457200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29" name="Text 27"/>
          <p:cNvSpPr/>
          <p:nvPr/>
        </p:nvSpPr>
        <p:spPr>
          <a:xfrm>
            <a:off x="658368" y="34838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E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280160" y="341985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3 — 新手友好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280160" y="371246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切入角度：PVE降门槛 / 3C升级上手更容易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840480" y="3419856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D7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目标用户：泛用户 / 女性用户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840480" y="3712464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内容：3C升级后视野更广 / 操作更精准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4151376"/>
            <a:ext cx="8229600" cy="7315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7200" y="4151376"/>
            <a:ext cx="54864" cy="73152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6" name="Shape 34"/>
          <p:cNvSpPr/>
          <p:nvPr/>
        </p:nvSpPr>
        <p:spPr>
          <a:xfrm>
            <a:off x="658368" y="4288536"/>
            <a:ext cx="457200" cy="457200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37" name="Text 35"/>
          <p:cNvSpPr/>
          <p:nvPr/>
        </p:nvSpPr>
        <p:spPr>
          <a:xfrm>
            <a:off x="658368" y="42885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E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280160" y="422452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4 — 视觉冲击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280160" y="451713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切入角度：3C对比 / 打击感展示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840480" y="422452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D7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目标用户：所有用户 / 视觉型玩家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840480" y="4517136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内容：Camera变更前后对比 / 战斗特效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58952"/>
            <a:ext cx="9144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" name="Shape 2"/>
          <p:cNvSpPr/>
          <p:nvPr/>
        </p:nvSpPr>
        <p:spPr>
          <a:xfrm rot="2700000">
            <a:off x="411480" y="201168"/>
            <a:ext cx="365760" cy="36576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82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区域差异化宣传策略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D7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亚洲 · 拉美（北部/南部） · 巴西 — 三大市场，三套叙事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651760" cy="35204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280160"/>
            <a:ext cx="2651760" cy="548640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325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🌏 亚洲（印尼/越南）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1975104"/>
            <a:ext cx="109728" cy="109728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92024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性质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66928" y="212140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版本更新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66928" y="2523744"/>
            <a:ext cx="109728" cy="109728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46888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核心口径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66928" y="267004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7月大版本上线，所有人一起回归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66928" y="3072384"/>
            <a:ext cx="109728" cy="109728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01752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受众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66928" y="321868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新玩家：上手容易 | 老玩家：内容更新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66928" y="3621024"/>
            <a:ext cx="109728" cy="109728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56616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KOL/KOC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66928" y="376732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按需，OM为主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66928" y="4169664"/>
            <a:ext cx="109728" cy="109728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11480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核心信息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66928" y="431596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版本回来了，内容更多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91840" y="1280160"/>
            <a:ext cx="2651760" cy="35204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91840" y="1280160"/>
            <a:ext cx="2651760" cy="548640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7" name="Text 25"/>
          <p:cNvSpPr/>
          <p:nvPr/>
        </p:nvSpPr>
        <p:spPr>
          <a:xfrm>
            <a:off x="3429000" y="1325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🌎 拉美（CO/MX/AR/CL）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401568" y="1975104"/>
            <a:ext cx="109728" cy="109728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29" name="Text 27"/>
          <p:cNvSpPr/>
          <p:nvPr/>
        </p:nvSpPr>
        <p:spPr>
          <a:xfrm>
            <a:off x="3566160" y="192024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性质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401568" y="212140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南北部全面开放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401568" y="2523744"/>
            <a:ext cx="109728" cy="109728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32" name="Text 30"/>
          <p:cNvSpPr/>
          <p:nvPr/>
        </p:nvSpPr>
        <p:spPr>
          <a:xfrm>
            <a:off x="3566160" y="246888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核心口径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401568" y="267004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北部（CO/MX）+ 南部（AR/CL）同步开放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401568" y="3072384"/>
            <a:ext cx="109728" cy="109728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35" name="Text 33"/>
          <p:cNvSpPr/>
          <p:nvPr/>
        </p:nvSpPr>
        <p:spPr>
          <a:xfrm>
            <a:off x="3566160" y="301752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受众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401568" y="321868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北部回归玩家 + 南部新玩家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401568" y="3621024"/>
            <a:ext cx="109728" cy="109728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38" name="Text 36"/>
          <p:cNvSpPr/>
          <p:nvPr/>
        </p:nvSpPr>
        <p:spPr>
          <a:xfrm>
            <a:off x="3566160" y="356616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KOL/KOC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401568" y="376732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按需，OM为主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401568" y="4169664"/>
            <a:ext cx="109728" cy="109728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41" name="Text 39"/>
          <p:cNvSpPr/>
          <p:nvPr/>
        </p:nvSpPr>
        <p:spPr>
          <a:xfrm>
            <a:off x="3566160" y="411480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核心信息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401568" y="431596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终于等到你！南北全面开放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126480" y="1280160"/>
            <a:ext cx="2651760" cy="35204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126480" y="1280160"/>
            <a:ext cx="2651760" cy="548640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5" name="Text 43"/>
          <p:cNvSpPr/>
          <p:nvPr/>
        </p:nvSpPr>
        <p:spPr>
          <a:xfrm>
            <a:off x="6263640" y="1325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🇧🇷 巴西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236208" y="1975104"/>
            <a:ext cx="109728" cy="109728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47" name="Text 45"/>
          <p:cNvSpPr/>
          <p:nvPr/>
        </p:nvSpPr>
        <p:spPr>
          <a:xfrm>
            <a:off x="6400800" y="192024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性质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236208" y="212140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时隔1年首次开服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236208" y="2523744"/>
            <a:ext cx="109728" cy="109728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50" name="Text 48"/>
          <p:cNvSpPr/>
          <p:nvPr/>
        </p:nvSpPr>
        <p:spPr>
          <a:xfrm>
            <a:off x="6400800" y="246888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核心口径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236208" y="267004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服务器回来了，欢迎老玩家回归，新玩家加入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236208" y="3072384"/>
            <a:ext cx="109728" cy="109728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53" name="Text 51"/>
          <p:cNvSpPr/>
          <p:nvPr/>
        </p:nvSpPr>
        <p:spPr>
          <a:xfrm>
            <a:off x="6400800" y="301752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受众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236208" y="321868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老玩家召回为主，新玩家补充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236208" y="3621024"/>
            <a:ext cx="109728" cy="109728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56" name="Text 54"/>
          <p:cNvSpPr/>
          <p:nvPr/>
        </p:nvSpPr>
        <p:spPr>
          <a:xfrm>
            <a:off x="6400800" y="356616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KOL/KOC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236208" y="376732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老玩家召回侧重点，预算允许下可做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236208" y="4169664"/>
            <a:ext cx="109728" cy="109728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59" name="Text 57"/>
          <p:cNvSpPr/>
          <p:nvPr/>
        </p:nvSpPr>
        <p:spPr>
          <a:xfrm>
            <a:off x="6400800" y="411480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核心信息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236208" y="431596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服务器回来了，你还在吗？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solidFill>
            <a:srgbClr val="D29922">
              <a:alpha val="15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非正式上线（测试阶段），预算有限。OM为主，KOL/KOC按区域单独评估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58952"/>
            <a:ext cx="9144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" name="Shape 2"/>
          <p:cNvSpPr/>
          <p:nvPr/>
        </p:nvSpPr>
        <p:spPr>
          <a:xfrm rot="2700000">
            <a:off x="411480" y="201168"/>
            <a:ext cx="365760" cy="36576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82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素材细化（按渠道/格式/受众）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914400"/>
            <a:ext cx="1371600" cy="411480"/>
          </a:xfrm>
          <a:prstGeom prst="rect">
            <a:avLst/>
          </a:prstGeom>
          <a:solidFill>
            <a:srgbClr val="21262D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144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素材类型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20240" y="914400"/>
            <a:ext cx="1371600" cy="411480"/>
          </a:xfrm>
          <a:prstGeom prst="rect">
            <a:avLst/>
          </a:prstGeom>
          <a:solidFill>
            <a:srgbClr val="21262D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920240" y="9144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目标用户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83280" y="914400"/>
            <a:ext cx="1280160" cy="411480"/>
          </a:xfrm>
          <a:prstGeom prst="rect">
            <a:avLst/>
          </a:prstGeom>
          <a:solidFill>
            <a:srgbClr val="21262D">
              <a:alpha val="5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9144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切入角度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914400"/>
            <a:ext cx="1280160" cy="411480"/>
          </a:xfrm>
          <a:prstGeom prst="rect">
            <a:avLst/>
          </a:prstGeom>
          <a:solidFill>
            <a:srgbClr val="21262D">
              <a:alpha val="5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9144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格式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914400"/>
            <a:ext cx="2926080" cy="411480"/>
          </a:xfrm>
          <a:prstGeom prst="rect">
            <a:avLst/>
          </a:prstGeom>
          <a:solidFill>
            <a:srgbClr val="21262D">
              <a:alpha val="5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914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渠道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1325880"/>
            <a:ext cx="8229600" cy="43891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132588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D7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Arena实况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920240" y="132588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竞技型玩家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83280" y="132588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天梯冲分 / 以弱胜强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54880" y="132588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15s竖屏×3版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126480" y="1325880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TikTok/YT Reels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1764792"/>
            <a:ext cx="8229600" cy="438912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176479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D7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Arena真人反应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920240" y="176479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泛用户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83280" y="1764792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开黑翻车集锦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54880" y="1764792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竖屏×2版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126480" y="1764792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2203704"/>
            <a:ext cx="8229600" cy="43891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2203704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D7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PVE实录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920240" y="2203704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新手玩家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383280" y="2203704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新手友好 / 通关成就感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0" y="2203704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15-30s版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126480" y="2203704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YT/TikTok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2642616"/>
            <a:ext cx="8229600" cy="438912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2642616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D7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3C对比（旧vs新）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920240" y="2642616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所有用户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383280" y="2642616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视觉冲击 / 打击感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754880" y="2642616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并排对比视频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126480" y="2642616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YT/FB/买量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57200" y="3081528"/>
            <a:ext cx="8229600" cy="43891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3081528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D7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新英雄展示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920240" y="3081528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核心用户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383280" y="3081528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技能展示 / 强度分析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754880" y="3081528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10s技能+立绘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126480" y="3081528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YT/KOL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7200" y="3520440"/>
            <a:ext cx="8229600" cy="438912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352044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D7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组队开黑片段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920240" y="352044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社交型玩家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383280" y="352044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和朋友一起玩的乐趣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754880" y="352044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竖屏/横版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126480" y="3520440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TikTok/FB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57200" y="3959352"/>
            <a:ext cx="8229600" cy="43891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4" name="Text 52"/>
          <p:cNvSpPr/>
          <p:nvPr/>
        </p:nvSpPr>
        <p:spPr>
          <a:xfrm>
            <a:off x="457200" y="395935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D7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迷因向短剪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920240" y="395935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泛用户/MZ世代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383280" y="3959352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地牢翻车搞笑集锦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754880" y="3959352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5-10s梗视频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126480" y="3959352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57200" y="4398264"/>
            <a:ext cx="8229600" cy="438912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0" name="Text 58"/>
          <p:cNvSpPr/>
          <p:nvPr/>
        </p:nvSpPr>
        <p:spPr>
          <a:xfrm>
            <a:off x="457200" y="4398264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D7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玩家UGC二创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920240" y="4398264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所有用户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3383280" y="4398264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官方转发激励扩散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4754880" y="4398264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UGC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126480" y="4398264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社媒矩阵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457200" y="49377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预计素材总量：各市场约 100-200 个组合，优先测试 Arena + 组队类素材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58952"/>
            <a:ext cx="9144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" name="Shape 2"/>
          <p:cNvSpPr/>
          <p:nvPr/>
        </p:nvSpPr>
        <p:spPr>
          <a:xfrm rot="2700000">
            <a:off x="411480" y="201168"/>
            <a:ext cx="365760" cy="36576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82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KOL矩阵（分层 × 宣传点 × CPM）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类型：泛游戏主播为主，不采用纯垂类/Vtuber | OM为主，KOL按需决策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411480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170432"/>
            <a:ext cx="731520" cy="411480"/>
          </a:xfrm>
          <a:prstGeom prst="rect">
            <a:avLst/>
          </a:prstGeom>
          <a:solidFill>
            <a:srgbClr val="21262D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170432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类型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234440" y="1170432"/>
            <a:ext cx="685800" cy="411480"/>
          </a:xfrm>
          <a:prstGeom prst="rect">
            <a:avLst/>
          </a:prstGeom>
          <a:solidFill>
            <a:srgbClr val="21262D">
              <a:alpha val="5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117043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粉丝量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965960" y="1170432"/>
            <a:ext cx="1234440" cy="411480"/>
          </a:xfrm>
          <a:prstGeom prst="rect">
            <a:avLst/>
          </a:prstGeom>
          <a:solidFill>
            <a:srgbClr val="21262D">
              <a:alpha val="5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965960" y="1170432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46120" y="1170432"/>
            <a:ext cx="960120" cy="411480"/>
          </a:xfrm>
          <a:prstGeom prst="rect">
            <a:avLst/>
          </a:prstGeom>
          <a:solidFill>
            <a:srgbClr val="21262D">
              <a:alpha val="5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246120" y="1170432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平台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51960" y="1170432"/>
            <a:ext cx="777240" cy="411480"/>
          </a:xfrm>
          <a:prstGeom prst="rect">
            <a:avLst/>
          </a:prstGeom>
          <a:solidFill>
            <a:srgbClr val="21262D">
              <a:alpha val="5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251960" y="1170432"/>
            <a:ext cx="777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74920" y="1170432"/>
            <a:ext cx="960120" cy="411480"/>
          </a:xfrm>
          <a:prstGeom prst="rect">
            <a:avLst/>
          </a:prstGeom>
          <a:solidFill>
            <a:srgbClr val="21262D">
              <a:alpha val="5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074920" y="1170432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对应宣传点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080760" y="1170432"/>
            <a:ext cx="2743200" cy="411480"/>
          </a:xfrm>
          <a:prstGeom prst="rect">
            <a:avLst/>
          </a:prstGeom>
          <a:solidFill>
            <a:srgbClr val="21262D">
              <a:alpha val="5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080760" y="117043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切入角度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1581912"/>
            <a:ext cx="822960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1581912"/>
            <a:ext cx="45720" cy="64008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1581912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KOL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234440" y="1581912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100万+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65960" y="1581912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巴西/墨西哥/哥伦比亚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46120" y="1581912"/>
            <a:ext cx="960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251960" y="1581912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$10–15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74920" y="1581912"/>
            <a:ext cx="960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D7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1+2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080760" y="158191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品牌背书 + 泛用户破圈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2221992"/>
            <a:ext cx="8229600" cy="640080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2" name="Shape 30"/>
          <p:cNvSpPr/>
          <p:nvPr/>
        </p:nvSpPr>
        <p:spPr>
          <a:xfrm>
            <a:off x="457200" y="2221992"/>
            <a:ext cx="45720" cy="64008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2221992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 KOL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234440" y="2221992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10–100万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65960" y="2221992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印尼/越南/巴西/墨西哥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246120" y="2221992"/>
            <a:ext cx="960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 + YouTube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251960" y="2221992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$8–12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74920" y="2221992"/>
            <a:ext cx="960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D7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全部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080760" y="222199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深度实况 + Arena/PVE体验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" y="2862072"/>
            <a:ext cx="822960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1" name="Shape 39"/>
          <p:cNvSpPr/>
          <p:nvPr/>
        </p:nvSpPr>
        <p:spPr>
          <a:xfrm>
            <a:off x="457200" y="2862072"/>
            <a:ext cx="45720" cy="64008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2862072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 KOL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234440" y="2862072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1–10万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965960" y="2862072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印尼/越南/巴西/墨西哥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246120" y="2862072"/>
            <a:ext cx="960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251960" y="2862072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$5–8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074920" y="2862072"/>
            <a:ext cx="960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D7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2+3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080760" y="286207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素人口碑 + 真实反应 + Meme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57200" y="3502152"/>
            <a:ext cx="8229600" cy="640080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0" name="Shape 48"/>
          <p:cNvSpPr/>
          <p:nvPr/>
        </p:nvSpPr>
        <p:spPr>
          <a:xfrm>
            <a:off x="457200" y="3502152"/>
            <a:ext cx="45720" cy="64008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51" name="Text 49"/>
          <p:cNvSpPr/>
          <p:nvPr/>
        </p:nvSpPr>
        <p:spPr>
          <a:xfrm>
            <a:off x="457200" y="3502152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Nano KOL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234440" y="3502152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1万以下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965960" y="3502152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全部5国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246120" y="3502152"/>
            <a:ext cx="960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 + Discord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251960" y="3502152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$2–5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074920" y="3502152"/>
            <a:ext cx="960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D7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2+4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080760" y="350215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UGC扩散 + 种子用户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CPM数据来源：G&amp;G印尼历史数据验证（TikTok官方$0.56、YouTube官方$0.29、KOL合作$10-20）；实际CPM因市场/季节浮动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58952"/>
            <a:ext cx="9144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" name="Shape 2"/>
          <p:cNvSpPr/>
          <p:nvPr/>
        </p:nvSpPr>
        <p:spPr>
          <a:xfrm rot="2700000">
            <a:off x="411480" y="201168"/>
            <a:ext cx="365760" cy="36576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82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目标市场分层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0" y="1463040"/>
            <a:ext cx="2194560" cy="2194560"/>
          </a:xfrm>
          <a:prstGeom prst="ellipse">
            <a:avLst/>
          </a:prstGeom>
          <a:solidFill>
            <a:srgbClr val="D4A853"/>
          </a:solidFill>
          <a:ln/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11880" y="1600200"/>
            <a:ext cx="1920240" cy="1920240"/>
          </a:xfrm>
          <a:prstGeom prst="ellipse">
            <a:avLst/>
          </a:prstGeom>
          <a:solidFill>
            <a:srgbClr val="161B22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96596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全部目标市场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7月同步上线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188720" y="1280160"/>
            <a:ext cx="1234440" cy="5943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188720" y="1280160"/>
            <a:ext cx="45720" cy="59436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1280160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🇮🇩 印尼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280160"/>
            <a:ext cx="1234440" cy="5943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280160"/>
            <a:ext cx="45720" cy="59436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280160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🇻🇳 越南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651760"/>
            <a:ext cx="1234440" cy="5943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2651760"/>
            <a:ext cx="45720" cy="59436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651760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🇲🇽 墨西哥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49440" y="2651760"/>
            <a:ext cx="1234440" cy="5943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49440" y="2651760"/>
            <a:ext cx="45720" cy="59436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0" y="2651760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🇧🇷 巴西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4400" y="3931920"/>
            <a:ext cx="1234440" cy="5943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14400" y="3931920"/>
            <a:ext cx="45720" cy="59436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3931920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🇨🇴 哥伦比亚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0" y="4389120"/>
            <a:ext cx="1234440" cy="5943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0" y="4389120"/>
            <a:ext cx="45720" cy="59436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26" name="Text 24"/>
          <p:cNvSpPr/>
          <p:nvPr/>
        </p:nvSpPr>
        <p:spPr>
          <a:xfrm>
            <a:off x="3749040" y="4389120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🇦🇷 阿根廷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394960" y="3931920"/>
            <a:ext cx="1234440" cy="5943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394960" y="3931920"/>
            <a:ext cx="45720" cy="59436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0" y="3931920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🇨🇱 智利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406640" y="3474720"/>
            <a:ext cx="1234440" cy="5943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406640" y="3474720"/>
            <a:ext cx="45720" cy="59436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2" name="Text 30"/>
          <p:cNvSpPr/>
          <p:nvPr/>
        </p:nvSpPr>
        <p:spPr>
          <a:xfrm>
            <a:off x="7498080" y="3474720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🇺🇸 美国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286000" y="4892040"/>
            <a:ext cx="4572000" cy="228600"/>
          </a:xfrm>
          <a:prstGeom prst="rect">
            <a:avLst/>
          </a:prstGeom>
          <a:solidFill>
            <a:srgbClr val="D4A853">
              <a:alpha val="15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228600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亚洲+拉美+美国同步发行，非分批上线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58952"/>
            <a:ext cx="9144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" name="Shape 2"/>
          <p:cNvSpPr/>
          <p:nvPr/>
        </p:nvSpPr>
        <p:spPr>
          <a:xfrm rot="2700000">
            <a:off x="411480" y="201168"/>
            <a:ext cx="365760" cy="36576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82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推广时间轴（关键节点）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2148840"/>
            <a:ext cx="7680960" cy="9144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7" name="Shape 5"/>
          <p:cNvSpPr/>
          <p:nvPr/>
        </p:nvSpPr>
        <p:spPr>
          <a:xfrm>
            <a:off x="1234440" y="1965960"/>
            <a:ext cx="457200" cy="457200"/>
          </a:xfrm>
          <a:prstGeom prst="ellipse">
            <a:avLst/>
          </a:prstGeom>
          <a:solidFill>
            <a:srgbClr val="F5D78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508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D7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3月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4688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准备期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7432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评分+本地化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834640" y="1965960"/>
            <a:ext cx="457200" cy="457200"/>
          </a:xfrm>
          <a:prstGeom prst="ellipse">
            <a:avLst/>
          </a:prstGeom>
          <a:solidFill>
            <a:srgbClr val="D4A85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331720" y="1508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4–5月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331720" y="24688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停服维护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31720" y="27432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素材储备+KOL接触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434840" y="1965960"/>
            <a:ext cx="457200" cy="457200"/>
          </a:xfrm>
          <a:prstGeom prst="ellipse">
            <a:avLst/>
          </a:prstGeom>
          <a:solidFill>
            <a:srgbClr val="D4A85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931920" y="1508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6月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931920" y="24688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预热期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931920" y="27432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官宣+预约开放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35040" y="1965960"/>
            <a:ext cx="457200" cy="457200"/>
          </a:xfrm>
          <a:prstGeom prst="ellipse">
            <a:avLst/>
          </a:prstGeom>
          <a:solidFill>
            <a:srgbClr val="FF6B3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532120" y="1508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7月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532120" y="24688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大版本爆发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32120" y="27432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全力投放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635240" y="1965960"/>
            <a:ext cx="457200" cy="457200"/>
          </a:xfrm>
          <a:prstGeom prst="ellipse">
            <a:avLst/>
          </a:prstGeom>
          <a:solidFill>
            <a:srgbClr val="8B949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132320" y="1508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8月+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132320" y="24688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长尾运营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32320" y="27432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赛季+内容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3200400"/>
            <a:ext cx="4023360" cy="17830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3200400"/>
            <a:ext cx="54864" cy="178308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246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准备期 3月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" y="356616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评分改善（3.7→3.8）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本地化完成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KOL名单确认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广告素材制作（初版）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3200400"/>
            <a:ext cx="4023360" cy="17830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3200400"/>
            <a:ext cx="54864" cy="17830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3246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爆发期 7月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46320" y="356616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T-3: 预告片上线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T日: Mid/Macro KOL同步爆发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T+7: 全渠道买量加投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T+14: BP发售+限量皮肤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58952"/>
            <a:ext cx="9144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" name="Shape 2"/>
          <p:cNvSpPr/>
          <p:nvPr/>
        </p:nvSpPr>
        <p:spPr>
          <a:xfrm rot="2700000">
            <a:off x="411480" y="201168"/>
            <a:ext cx="365760" cy="36576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82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预算分配建议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 Ads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920240" y="1115568"/>
            <a:ext cx="5029200" cy="29260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8" name="Shape 6"/>
          <p:cNvSpPr/>
          <p:nvPr/>
        </p:nvSpPr>
        <p:spPr>
          <a:xfrm>
            <a:off x="1920240" y="1115568"/>
            <a:ext cx="1760220" cy="292608"/>
          </a:xfrm>
          <a:prstGeom prst="rect">
            <a:avLst/>
          </a:prstGeom>
          <a:solidFill>
            <a:srgbClr val="D4A85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040880" y="1051560"/>
            <a:ext cx="411480" cy="411480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0" y="1051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13898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年轻用户主力平台 · CPM $0.5-1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17830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Ads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920240" y="1892808"/>
            <a:ext cx="5029200" cy="29260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4" name="Shape 12"/>
          <p:cNvSpPr/>
          <p:nvPr/>
        </p:nvSpPr>
        <p:spPr>
          <a:xfrm>
            <a:off x="1920240" y="1892808"/>
            <a:ext cx="1257300" cy="292608"/>
          </a:xfrm>
          <a:prstGeom prst="rect">
            <a:avLst/>
          </a:prstGeom>
          <a:solidFill>
            <a:srgbClr val="F5D78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040880" y="1828800"/>
            <a:ext cx="411480" cy="411480"/>
          </a:xfrm>
          <a:prstGeom prst="ellipse">
            <a:avLst/>
          </a:prstGeom>
          <a:solidFill>
            <a:srgbClr val="F5D78E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1671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触达面广 · CPM $2-3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25603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UAC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920240" y="2670048"/>
            <a:ext cx="5029200" cy="29260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20" name="Shape 18"/>
          <p:cNvSpPr/>
          <p:nvPr/>
        </p:nvSpPr>
        <p:spPr>
          <a:xfrm>
            <a:off x="1920240" y="2670048"/>
            <a:ext cx="1005840" cy="292608"/>
          </a:xfrm>
          <a:prstGeom prst="rect">
            <a:avLst/>
          </a:prstGeom>
          <a:solidFill>
            <a:srgbClr val="B8860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040880" y="2606040"/>
            <a:ext cx="411480" cy="411480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0" y="2606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29443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+ Play双覆盖 · CPM $3-5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3337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KOL合作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920240" y="3447288"/>
            <a:ext cx="5029200" cy="29260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26" name="Shape 24"/>
          <p:cNvSpPr/>
          <p:nvPr/>
        </p:nvSpPr>
        <p:spPr>
          <a:xfrm>
            <a:off x="1920240" y="3447288"/>
            <a:ext cx="754380" cy="292608"/>
          </a:xfrm>
          <a:prstGeom prst="rect">
            <a:avLst/>
          </a:prstGeom>
          <a:solidFill>
            <a:srgbClr val="FF6B3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040880" y="3383280"/>
            <a:ext cx="411480" cy="41148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8" name="Text 26"/>
          <p:cNvSpPr/>
          <p:nvPr/>
        </p:nvSpPr>
        <p:spPr>
          <a:xfrm>
            <a:off x="7040880" y="3383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37216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泛游戏主播为主 · CPM $10-15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41148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/ ASO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920240" y="4224528"/>
            <a:ext cx="5029200" cy="29260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32" name="Shape 30"/>
          <p:cNvSpPr/>
          <p:nvPr/>
        </p:nvSpPr>
        <p:spPr>
          <a:xfrm>
            <a:off x="1920240" y="4224528"/>
            <a:ext cx="251460" cy="292608"/>
          </a:xfrm>
          <a:prstGeom prst="rect">
            <a:avLst/>
          </a:prstGeom>
          <a:solidFill>
            <a:srgbClr val="8B949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040880" y="4160520"/>
            <a:ext cx="411480" cy="411480"/>
          </a:xfrm>
          <a:prstGeom prst="ellipse">
            <a:avLst/>
          </a:prstGeom>
          <a:solidFill>
            <a:srgbClr val="8B949E"/>
          </a:solidFill>
          <a:ln/>
        </p:spPr>
      </p:sp>
      <p:sp>
        <p:nvSpPr>
          <p:cNvPr id="34" name="Text 32"/>
          <p:cNvSpPr/>
          <p:nvPr/>
        </p:nvSpPr>
        <p:spPr>
          <a:xfrm>
            <a:off x="7040880" y="4160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44988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里程碑传播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49377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CPM数据来源：G&amp;G印尼历史数据（TikTok官方$0.56、YouTube官方$0.29、KOL $10-20）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58952"/>
            <a:ext cx="9144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" name="Shape 2"/>
          <p:cNvSpPr/>
          <p:nvPr/>
        </p:nvSpPr>
        <p:spPr>
          <a:xfrm rot="2700000">
            <a:off x="411480" y="201168"/>
            <a:ext cx="365760" cy="36576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82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立即行动项（4–6月）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D7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停服维护期 · 准备冲刺阶段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8229600" cy="11430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280160"/>
            <a:ext cx="73152" cy="1143000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1389888"/>
            <a:ext cx="1371600" cy="292608"/>
          </a:xfrm>
          <a:prstGeom prst="roundRect">
            <a:avLst>
              <a:gd name="adj" fmla="val 9375"/>
            </a:avLst>
          </a:prstGeom>
          <a:solidFill>
            <a:srgbClr val="F85149">
              <a:alpha val="2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38988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 — 最高优先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48840" y="13258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468880" y="1371600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评分改善（3.7→3.8，目标4.0）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印尼/越南/巴西本地化（6月中前）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KOL名单确认（5月底前）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广告素材制作（6月中前）：Arena实况×3版 / PVE实录 / 3C对比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514600"/>
            <a:ext cx="8229600" cy="11430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514600"/>
            <a:ext cx="73152" cy="1143000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2624328"/>
            <a:ext cx="1371600" cy="292608"/>
          </a:xfrm>
          <a:prstGeom prst="roundRect">
            <a:avLst>
              <a:gd name="adj" fmla="val 9375"/>
            </a:avLst>
          </a:prstGeom>
          <a:solidFill>
            <a:srgbClr val="D29922">
              <a:alpha val="2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62432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— 重要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48840" y="2560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468880" y="2606040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预约页面开放（6月中）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Discord社区激活（持续）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买量素材制作（TikTok竖屏各2版）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749040"/>
            <a:ext cx="8229600" cy="11430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749040"/>
            <a:ext cx="73152" cy="1143000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" y="3858768"/>
            <a:ext cx="1371600" cy="292608"/>
          </a:xfrm>
          <a:prstGeom prst="roundRect">
            <a:avLst>
              <a:gd name="adj" fmla="val 9375"/>
            </a:avLst>
          </a:prstGeom>
          <a:solidFill>
            <a:srgbClr val="8B949E">
              <a:alpha val="2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85876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— 跟进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148840" y="37947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468880" y="3840480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智利/阿根廷/美国本地化（7月前）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日本市场评估（Q3决策）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KOL正式合作谈判（6月前）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36576"/>
          </a:xfrm>
          <a:prstGeom prst="rect">
            <a:avLst/>
          </a:prstGeom>
          <a:solidFill>
            <a:srgbClr val="F5D78E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2700000">
            <a:off x="4160520" y="731520"/>
            <a:ext cx="457200" cy="45720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5" name="Shape 3"/>
          <p:cNvSpPr/>
          <p:nvPr/>
        </p:nvSpPr>
        <p:spPr>
          <a:xfrm rot="2700000">
            <a:off x="3886200" y="960120"/>
            <a:ext cx="274320" cy="274320"/>
          </a:xfrm>
          <a:prstGeom prst="rect">
            <a:avLst/>
          </a:prstGeom>
          <a:solidFill>
            <a:srgbClr val="F5D78E"/>
          </a:solidFill>
          <a:ln/>
        </p:spPr>
      </p:sp>
      <p:sp>
        <p:nvSpPr>
          <p:cNvPr id="6" name="Shape 4"/>
          <p:cNvSpPr/>
          <p:nvPr/>
        </p:nvSpPr>
        <p:spPr>
          <a:xfrm rot="2700000">
            <a:off x="4663440" y="960120"/>
            <a:ext cx="274320" cy="274320"/>
          </a:xfrm>
          <a:prstGeom prst="rect">
            <a:avLst/>
          </a:prstGeom>
          <a:solidFill>
            <a:srgbClr val="F5D78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54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spc="800" kern="0" dirty="0">
                <a:solidFill>
                  <a:srgbClr val="D4A8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下一步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1828800" y="2377440"/>
            <a:ext cx="411480" cy="411480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0" y="2377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423160" y="23774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确认7月大版本最终上线日期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828800" y="2907792"/>
            <a:ext cx="411480" cy="411480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12" name="Text 10"/>
          <p:cNvSpPr/>
          <p:nvPr/>
        </p:nvSpPr>
        <p:spPr>
          <a:xfrm>
            <a:off x="1828800" y="29077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423160" y="290779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启动印尼/越南/巴西本地化工作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828800" y="3438144"/>
            <a:ext cx="411480" cy="411480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15" name="Text 13"/>
          <p:cNvSpPr/>
          <p:nvPr/>
        </p:nvSpPr>
        <p:spPr>
          <a:xfrm>
            <a:off x="1828800" y="343814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423160" y="3438144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接触首批 Nano + Micro KOL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828800" y="3968496"/>
            <a:ext cx="411480" cy="411480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18" name="Text 16"/>
          <p:cNvSpPr/>
          <p:nvPr/>
        </p:nvSpPr>
        <p:spPr>
          <a:xfrm>
            <a:off x="1828800" y="396849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423160" y="3968496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制作 Arena 真机实况素材（第一批）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645920" y="4480560"/>
            <a:ext cx="5852160" cy="5029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645920" y="4480560"/>
            <a:ext cx="73152" cy="5029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0" y="448056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目标：7月爆发期全力冲击下载 + 榜单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D4A853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Gold and Glory - 7月大版本完整发行策略</dc:title>
  <dc:subject>PptxGenJS Presentation</dc:subject>
  <dc:creator>Ops Team</dc:creator>
  <cp:lastModifiedBy>Ops Team</cp:lastModifiedBy>
  <cp:revision>1</cp:revision>
  <dcterms:created xsi:type="dcterms:W3CDTF">2026-04-02T07:45:27Z</dcterms:created>
  <dcterms:modified xsi:type="dcterms:W3CDTF">2026-04-02T07:45:27Z</dcterms:modified>
</cp:coreProperties>
</file>