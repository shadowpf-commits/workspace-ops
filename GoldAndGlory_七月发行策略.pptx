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区域预算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4AF37"/>
              </a:solidFill>
              <a:effectLst/>
            </c:spPr>
          </c:dPt>
          <c:dPt>
            <c:idx val="1"/>
            <c:bubble3D val="0"/>
            <c:spPr>
              <a:solidFill>
                <a:srgbClr val="E6B84A"/>
              </a:solidFill>
              <a:effectLst/>
            </c:spPr>
          </c:dPt>
          <c:dPt>
            <c:idx val="2"/>
            <c:bubble3D val="0"/>
            <c:spPr>
              <a:solidFill>
                <a:srgbClr val="F0D060"/>
              </a:solidFill>
              <a:effectLst/>
            </c:spPr>
          </c:dPt>
          <c:dPt>
            <c:idx val="3"/>
            <c:bubble3D val="0"/>
            <c:spPr>
              <a:solidFill>
                <a:srgbClr val="C09020"/>
              </a:solidFill>
              <a:effectLst/>
            </c:spPr>
          </c:dPt>
          <c:dPt>
            <c:idx val="4"/>
            <c:bubble3D val="0"/>
            <c:spPr>
              <a:solidFill>
                <a:srgbClr val="A07820"/>
              </a:solidFill>
              <a:effectLst/>
            </c:spPr>
          </c:dPt>
          <c:dPt>
            <c:idx val="5"/>
            <c:bubble3D val="0"/>
            <c:spPr>
              <a:solidFill>
                <a:srgbClr val="808040"/>
              </a:solidFill>
              <a:effectLst/>
            </c:spPr>
          </c:dPt>
          <c:dPt>
            <c:idx val="6"/>
            <c:bubble3D val="0"/>
            <c:spPr>
              <a:solidFill>
                <a:srgbClr val="607080"/>
              </a:solidFill>
              <a:effectLst/>
            </c:spPr>
          </c:dPt>
          <c:dPt>
            <c:idx val="7"/>
            <c:bubble3D val="0"/>
            <c:spPr>
              <a:solidFill>
                <a:srgbClr val="404060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7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Sheet1!$A$2:$A$9</c:f>
              <c:strCache>
                <c:ptCount val="8"/>
                <c:pt idx="0">
                  <c:v>印尼25%</c:v>
                </c:pt>
                <c:pt idx="1">
                  <c:v>巴西20%</c:v>
                </c:pt>
                <c:pt idx="2">
                  <c:v>越南15%</c:v>
                </c:pt>
                <c:pt idx="3">
                  <c:v>墨西哥15%</c:v>
                </c:pt>
                <c:pt idx="4">
                  <c:v>哥伦比亚10%</c:v>
                </c:pt>
                <c:pt idx="5">
                  <c:v>智利/阿根廷8%</c:v>
                </c:pt>
                <c:pt idx="6">
                  <c:v>美国5%</c:v>
                </c:pt>
                <c:pt idx="7">
                  <c:v>日本2%</c:v>
                </c:pt>
              </c:strCache>
            </c:strRef>
          </c:cat>
          <c:val>
            <c:numRef>
              <c:f>Sheet1!$B$2:$B$9</c:f>
              <c:numCache>
                <c:ptCount val="8"/>
                <c:pt idx="0">
                  <c:v>25</c:v>
                </c:pt>
                <c:pt idx="1">
                  <c:v>20</c:v>
                </c:pt>
                <c:pt idx="2">
                  <c:v>15</c:v>
                </c:pt>
                <c:pt idx="3">
                  <c:v>15</c:v>
                </c:pt>
                <c:pt idx="4">
                  <c:v>10</c:v>
                </c:pt>
                <c:pt idx="5">
                  <c:v>8</c:v>
                </c:pt>
                <c:pt idx="6">
                  <c:v>5</c:v>
                </c:pt>
                <c:pt idx="7">
                  <c:v>2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4630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spc="800" kern="0" dirty="0">
                <a:solidFill>
                  <a:srgbClr val="D4AF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GOLD AND GLORY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DF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7月大版本发行策略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0" y="3108960"/>
            <a:ext cx="182880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Arena · PVE · 3C核心升级  |  2026年4月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0" y="46634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Internal Use Only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4AF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产品核心定位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188720"/>
          </a:xfrm>
          <a:prstGeom prst="rect">
            <a:avLst/>
          </a:prstGeom>
          <a:solidFill>
            <a:srgbClr val="1F2B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0D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"进去抢，活着出来就是你的"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G&amp;G 核心 USP，Mobile Extraction Shooter 独家机制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3931920" cy="1371600"/>
          </a:xfrm>
          <a:prstGeom prst="rect">
            <a:avLst/>
          </a:prstGeom>
          <a:solidFill>
            <a:srgbClr val="1F2B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25146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产品定位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88036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DF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中世纪地牢 Extraction RPG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DF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5–15分钟快节奏单局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DF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赛季制 + 英雄收集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DF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端独家 Extraction Shooter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2377440"/>
            <a:ext cx="3931920" cy="1371600"/>
          </a:xfrm>
          <a:prstGeom prst="rect">
            <a:avLst/>
          </a:prstGeom>
          <a:solidFill>
            <a:srgbClr val="1F2B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25146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当前状态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288036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DF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Play 评分：3.7 ⚠️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DF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已测试：墨西哥、哥伦比亚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DF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服务器：4–6月停服维护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DF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7月大版本发布在即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977640"/>
            <a:ext cx="8229600" cy="82296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41605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0D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3.7分是市场进入门槛，7月前必须改善至 3.8，目标 4.0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4AF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7月大版本核心内容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EC0"/>
                </a:solidFill>
              </a:rPr>
              <a:t>三大营销素材支柱（按重要度排序）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1115568"/>
          </a:xfrm>
          <a:prstGeom prst="rect">
            <a:avLst/>
          </a:prstGeom>
          <a:solidFill>
            <a:srgbClr val="1F2B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34440"/>
            <a:ext cx="73152" cy="111556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307592"/>
            <a:ext cx="365760" cy="36576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3075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#1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" y="13075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F37"/>
                </a:solidFill>
              </a:rPr>
              <a:t>★★★★★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158191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DF6E3"/>
                </a:solidFill>
              </a:rPr>
              <a:t>🏟️ 竞技场 Arena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97280" y="189280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</a:rPr>
              <a:t>PVP核心玩法，天梯/排名，可做大量内容素材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97280" y="2093976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D060"/>
                </a:solidFill>
              </a:rPr>
              <a:t>天梯冲分 / 以弱胜强 / 公平竞技 / 新手逆袭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132320" y="1581912"/>
            <a:ext cx="1371600" cy="34747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4" name="Text 12"/>
          <p:cNvSpPr/>
          <p:nvPr/>
        </p:nvSpPr>
        <p:spPr>
          <a:xfrm>
            <a:off x="7132320" y="158191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最高营销价值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468880"/>
            <a:ext cx="8229600" cy="1115568"/>
          </a:xfrm>
          <a:prstGeom prst="rect">
            <a:avLst/>
          </a:prstGeom>
          <a:solidFill>
            <a:srgbClr val="1F2B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468880"/>
            <a:ext cx="73152" cy="111556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7" name="Shape 15"/>
          <p:cNvSpPr/>
          <p:nvPr/>
        </p:nvSpPr>
        <p:spPr>
          <a:xfrm>
            <a:off x="594360" y="2542032"/>
            <a:ext cx="365760" cy="36576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25420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#2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97280" y="25420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F37"/>
                </a:solidFill>
              </a:rPr>
              <a:t>★★★★☆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97280" y="28163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DF6E3"/>
                </a:solidFill>
              </a:rPr>
              <a:t>🗺️ PVE 模式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97280" y="312724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</a:rPr>
              <a:t>降低门槛，留存友好，适合「新手友好」叙事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97280" y="3328416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D060"/>
                </a:solidFill>
              </a:rPr>
              <a:t>新手友好 / 通关成就感 / 剧情体验 / 组队副本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132320" y="2816352"/>
            <a:ext cx="1371600" cy="34747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4" name="Text 22"/>
          <p:cNvSpPr/>
          <p:nvPr/>
        </p:nvSpPr>
        <p:spPr>
          <a:xfrm>
            <a:off x="7132320" y="281635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留存利器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3703320"/>
            <a:ext cx="8229600" cy="1115568"/>
          </a:xfrm>
          <a:prstGeom prst="rect">
            <a:avLst/>
          </a:prstGeom>
          <a:solidFill>
            <a:srgbClr val="1F2B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3703320"/>
            <a:ext cx="73152" cy="111556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7" name="Shape 25"/>
          <p:cNvSpPr/>
          <p:nvPr/>
        </p:nvSpPr>
        <p:spPr>
          <a:xfrm>
            <a:off x="594360" y="3776472"/>
            <a:ext cx="365760" cy="36576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8" name="Text 26"/>
          <p:cNvSpPr/>
          <p:nvPr/>
        </p:nvSpPr>
        <p:spPr>
          <a:xfrm>
            <a:off x="594360" y="37764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#3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97280" y="37764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F37"/>
                </a:solidFill>
              </a:rPr>
              <a:t>★★★★☆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97280" y="40507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DF6E3"/>
                </a:solidFill>
              </a:rPr>
              <a:t>🎮 3C 核心升级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097280" y="436168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</a:rPr>
              <a:t>Control + Camera + Character 整体升级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97280" y="4562856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D060"/>
                </a:solidFill>
              </a:rPr>
              <a:t>易用性（视野） · 操作性（精准度） · 打击感（反馈） · 策略性（观察）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132320" y="4050792"/>
            <a:ext cx="1371600" cy="34747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4" name="Text 32"/>
          <p:cNvSpPr/>
          <p:nvPr/>
        </p:nvSpPr>
        <p:spPr>
          <a:xfrm>
            <a:off x="7132320" y="405079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核心玩法质变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三个内容支柱构成7月营销的核心素材库，所有广告素材、KOL合作均围绕这三个展开。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4AF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宣传讯息层级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D060"/>
                </a:solidFill>
              </a:rPr>
              <a:t>核心USP：进去抢，活着出来就是你的（Extraction Shooter独家机制）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114800" cy="1737360"/>
          </a:xfrm>
          <a:prstGeom prst="rect">
            <a:avLst/>
          </a:prstGeom>
          <a:solidFill>
            <a:srgbClr val="1F2B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4114800" cy="7315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3258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Pillar 1 — 竞技刺激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6459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DF6E3"/>
                </a:solidFill>
              </a:rPr>
              <a:t>切入角度：Arena天梯 / 以弱胜强 / 公平竞技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99339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</a:rPr>
              <a:t>目标用户：竞技型玩家 / BR玩家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233172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D060"/>
                </a:solidFill>
              </a:rPr>
              <a:t>内容：地牢风险回报 / 装备驱动 / 死后全失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188720"/>
            <a:ext cx="4114800" cy="1737360"/>
          </a:xfrm>
          <a:prstGeom prst="rect">
            <a:avLst/>
          </a:prstGeom>
          <a:solidFill>
            <a:srgbClr val="1F2B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188720"/>
            <a:ext cx="4114800" cy="7315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4892040" y="13258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Pillar 2 — 社交组队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92040" y="16459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DF6E3"/>
                </a:solidFill>
              </a:rPr>
              <a:t>切入角度：和朋友下地牢 / 组队开黑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92040" y="199339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</a:rPr>
              <a:t>目标用户：社交型玩家 / 东南亚/拉美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92040" y="233172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D060"/>
                </a:solidFill>
              </a:rPr>
              <a:t>内容：10-15分钟快节奏 / 碎片时间友好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063240"/>
            <a:ext cx="4114800" cy="1737360"/>
          </a:xfrm>
          <a:prstGeom prst="rect">
            <a:avLst/>
          </a:prstGeom>
          <a:solidFill>
            <a:srgbClr val="1F2B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063240"/>
            <a:ext cx="4114800" cy="7315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32004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Pillar 3 — 新手友好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94360" y="35204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DF6E3"/>
                </a:solidFill>
              </a:rPr>
              <a:t>切入角度：PVE降门槛 / 3C升级上手更容易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4360" y="386791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</a:rPr>
              <a:t>目标用户：泛用户 / 女性用户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94360" y="42062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D060"/>
                </a:solidFill>
              </a:rPr>
              <a:t>内容：3C升级后视野更广 / 操作更精准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3063240"/>
            <a:ext cx="4114800" cy="1737360"/>
          </a:xfrm>
          <a:prstGeom prst="rect">
            <a:avLst/>
          </a:prstGeom>
          <a:solidFill>
            <a:srgbClr val="1F2B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3063240"/>
            <a:ext cx="4114800" cy="7315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5" name="Text 23"/>
          <p:cNvSpPr/>
          <p:nvPr/>
        </p:nvSpPr>
        <p:spPr>
          <a:xfrm>
            <a:off x="4892040" y="32004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Pillar 4 — 视觉冲击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92040" y="35204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DF6E3"/>
                </a:solidFill>
              </a:rPr>
              <a:t>切入角度：3C对比 / 打击感展示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92040" y="386791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</a:rPr>
              <a:t>目标用户：所有用户 / 视觉型玩家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92040" y="42062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D060"/>
                </a:solidFill>
              </a:rPr>
              <a:t>内容：Camera变更前后对比 / 战斗特效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AF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区域差异化宣传策略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D060"/>
                </a:solidFill>
              </a:rPr>
              <a:t>亚洲 · 拉美（北部/南部） · 巴西 — 三大市场，三套叙事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697480" cy="3703320"/>
          </a:xfrm>
          <a:prstGeom prst="rect">
            <a:avLst/>
          </a:prstGeom>
          <a:solidFill>
            <a:srgbClr val="1F2B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2697480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8872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🌏 亚洲（印尼/越南）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178308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F37"/>
                </a:solidFill>
              </a:rPr>
              <a:t>性质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66928" y="19659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DF6E3"/>
                </a:solidFill>
              </a:rPr>
              <a:t>版本更新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66928" y="235000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F37"/>
                </a:solidFill>
              </a:rPr>
              <a:t>核心口径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66928" y="253288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DF6E3"/>
                </a:solidFill>
              </a:rPr>
              <a:t>7月大版本上线，所有人一起回归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66928" y="291693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F37"/>
                </a:solidFill>
              </a:rPr>
              <a:t>受众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66928" y="309981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DF6E3"/>
                </a:solidFill>
              </a:rPr>
              <a:t>新玩家：上手容易 | 老玩家：内容更新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66928" y="3483864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F37"/>
                </a:solidFill>
              </a:rPr>
              <a:t>KOL/KOC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66928" y="366674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DF6E3"/>
                </a:solidFill>
              </a:rPr>
              <a:t>按需，OM为主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66928" y="4050792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F37"/>
                </a:solidFill>
              </a:rPr>
              <a:t>核心信息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66928" y="423367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DF6E3"/>
                </a:solidFill>
              </a:rPr>
              <a:t>版本回来了，内容更多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291840" y="1188720"/>
            <a:ext cx="2697480" cy="3703320"/>
          </a:xfrm>
          <a:prstGeom prst="rect">
            <a:avLst/>
          </a:prstGeom>
          <a:solidFill>
            <a:srgbClr val="1F2B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91840" y="1188720"/>
            <a:ext cx="2697480" cy="5029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0" name="Text 18"/>
          <p:cNvSpPr/>
          <p:nvPr/>
        </p:nvSpPr>
        <p:spPr>
          <a:xfrm>
            <a:off x="3291840" y="118872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🌎 拉美（CO/MX/AR/CL）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01568" y="178308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F37"/>
                </a:solidFill>
              </a:rPr>
              <a:t>性质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401568" y="19659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DF6E3"/>
                </a:solidFill>
              </a:rPr>
              <a:t>南北部全面开放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401568" y="235000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F37"/>
                </a:solidFill>
              </a:rPr>
              <a:t>核心口径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401568" y="253288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DF6E3"/>
                </a:solidFill>
              </a:rPr>
              <a:t>北部（CO/MX）+ 南部（AR/CL）同步开放，回应南部玩家之前的抱怨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401568" y="291693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F37"/>
                </a:solidFill>
              </a:rPr>
              <a:t>受众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401568" y="309981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DF6E3"/>
                </a:solidFill>
              </a:rPr>
              <a:t>北部回归玩家 + 南部新玩家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401568" y="3483864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F37"/>
                </a:solidFill>
              </a:rPr>
              <a:t>KOL/KOC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401568" y="366674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DF6E3"/>
                </a:solidFill>
              </a:rPr>
              <a:t>按需，OM为主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401568" y="4050792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F37"/>
                </a:solidFill>
              </a:rPr>
              <a:t>核心信息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401568" y="423367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DF6E3"/>
                </a:solidFill>
              </a:rPr>
              <a:t>终于等到你！南北全面开放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126480" y="1188720"/>
            <a:ext cx="2697480" cy="3703320"/>
          </a:xfrm>
          <a:prstGeom prst="rect">
            <a:avLst/>
          </a:prstGeom>
          <a:solidFill>
            <a:srgbClr val="1F2B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26480" y="1188720"/>
            <a:ext cx="2697480" cy="5029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3" name="Text 31"/>
          <p:cNvSpPr/>
          <p:nvPr/>
        </p:nvSpPr>
        <p:spPr>
          <a:xfrm>
            <a:off x="6126480" y="118872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🇧🇷 巴西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236208" y="178308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F37"/>
                </a:solidFill>
              </a:rPr>
              <a:t>性质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236208" y="19659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DF6E3"/>
                </a:solidFill>
              </a:rPr>
              <a:t>时隔1年首次开服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236208" y="235000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F37"/>
                </a:solidFill>
              </a:rPr>
              <a:t>核心口径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236208" y="253288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DF6E3"/>
                </a:solidFill>
              </a:rPr>
              <a:t>服务器回来了，欢迎老玩家回归，新玩家加入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236208" y="291693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F37"/>
                </a:solidFill>
              </a:rPr>
              <a:t>受众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236208" y="309981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DF6E3"/>
                </a:solidFill>
              </a:rPr>
              <a:t>老玩家召回为主，新玩家补充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236208" y="3483864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F37"/>
                </a:solidFill>
              </a:rPr>
              <a:t>KOL/KOC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236208" y="366674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DF6E3"/>
                </a:solidFill>
              </a:rPr>
              <a:t>老玩家召回侧重点，预算允许下可做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236208" y="4050792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F37"/>
                </a:solidFill>
              </a:rPr>
              <a:t>核心信息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236208" y="423367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DF6E3"/>
                </a:solidFill>
              </a:rPr>
              <a:t>服务器回来了，你还在吗？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57200" y="493776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 非正式上线（测试阶段），预算有限。OM为主，KOL/KOC按区域单独评估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AF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素材细化（按渠道/格式/受众）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828800" cy="34747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素材类型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0" y="914400"/>
            <a:ext cx="1371600" cy="34747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91440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目标用户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0" y="914400"/>
            <a:ext cx="2194560" cy="34747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0" y="91440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切入角度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852160" y="914400"/>
            <a:ext cx="1371600" cy="34747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1" name="Text 9"/>
          <p:cNvSpPr/>
          <p:nvPr/>
        </p:nvSpPr>
        <p:spPr>
          <a:xfrm>
            <a:off x="5852160" y="91440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格式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223760" y="914400"/>
            <a:ext cx="1280160" cy="34747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7223760" y="91440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渠道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1261872"/>
            <a:ext cx="1828800" cy="457200"/>
          </a:xfrm>
          <a:prstGeom prst="rect">
            <a:avLst/>
          </a:prstGeom>
          <a:solidFill>
            <a:srgbClr val="1F2B45"/>
          </a:solidFill>
          <a:ln/>
        </p:spPr>
      </p:sp>
      <p:sp>
        <p:nvSpPr>
          <p:cNvPr id="15" name="Text 13"/>
          <p:cNvSpPr/>
          <p:nvPr/>
        </p:nvSpPr>
        <p:spPr>
          <a:xfrm>
            <a:off x="530352" y="1261872"/>
            <a:ext cx="1682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Arena实况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286000" y="1261872"/>
            <a:ext cx="1371600" cy="457200"/>
          </a:xfrm>
          <a:prstGeom prst="rect">
            <a:avLst/>
          </a:prstGeom>
          <a:solidFill>
            <a:srgbClr val="1F2B45"/>
          </a:solidFill>
          <a:ln/>
        </p:spPr>
      </p:sp>
      <p:sp>
        <p:nvSpPr>
          <p:cNvPr id="17" name="Text 15"/>
          <p:cNvSpPr/>
          <p:nvPr/>
        </p:nvSpPr>
        <p:spPr>
          <a:xfrm>
            <a:off x="2359152" y="1261872"/>
            <a:ext cx="1225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</a:rPr>
              <a:t>竞技型玩家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0" y="1261872"/>
            <a:ext cx="2194560" cy="457200"/>
          </a:xfrm>
          <a:prstGeom prst="rect">
            <a:avLst/>
          </a:prstGeom>
          <a:solidFill>
            <a:srgbClr val="1F2B45"/>
          </a:solidFill>
          <a:ln/>
        </p:spPr>
      </p:sp>
      <p:sp>
        <p:nvSpPr>
          <p:cNvPr id="19" name="Text 17"/>
          <p:cNvSpPr/>
          <p:nvPr/>
        </p:nvSpPr>
        <p:spPr>
          <a:xfrm>
            <a:off x="3730752" y="1261872"/>
            <a:ext cx="20482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D060"/>
                </a:solidFill>
              </a:rPr>
              <a:t>天梯冲分 / 以弱胜强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852160" y="1261872"/>
            <a:ext cx="1371600" cy="457200"/>
          </a:xfrm>
          <a:prstGeom prst="rect">
            <a:avLst/>
          </a:prstGeom>
          <a:solidFill>
            <a:srgbClr val="1F2B45"/>
          </a:solidFill>
          <a:ln/>
        </p:spPr>
      </p:sp>
      <p:sp>
        <p:nvSpPr>
          <p:cNvPr id="21" name="Text 19"/>
          <p:cNvSpPr/>
          <p:nvPr/>
        </p:nvSpPr>
        <p:spPr>
          <a:xfrm>
            <a:off x="5925312" y="1261872"/>
            <a:ext cx="1225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</a:rPr>
              <a:t>15s竖屏×3版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223760" y="1261872"/>
            <a:ext cx="1280160" cy="457200"/>
          </a:xfrm>
          <a:prstGeom prst="rect">
            <a:avLst/>
          </a:prstGeom>
          <a:solidFill>
            <a:srgbClr val="1F2B45"/>
          </a:solidFill>
          <a:ln/>
        </p:spPr>
      </p:sp>
      <p:sp>
        <p:nvSpPr>
          <p:cNvPr id="23" name="Text 21"/>
          <p:cNvSpPr/>
          <p:nvPr/>
        </p:nvSpPr>
        <p:spPr>
          <a:xfrm>
            <a:off x="7296912" y="1261872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</a:rPr>
              <a:t>TikTok/YT Reels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1719072"/>
            <a:ext cx="1828800" cy="457200"/>
          </a:xfrm>
          <a:prstGeom prst="rect">
            <a:avLst/>
          </a:prstGeom>
          <a:solidFill>
            <a:srgbClr val="1A2640"/>
          </a:solidFill>
          <a:ln/>
        </p:spPr>
      </p:sp>
      <p:sp>
        <p:nvSpPr>
          <p:cNvPr id="25" name="Text 23"/>
          <p:cNvSpPr/>
          <p:nvPr/>
        </p:nvSpPr>
        <p:spPr>
          <a:xfrm>
            <a:off x="530352" y="1719072"/>
            <a:ext cx="1682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Arena真人反应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286000" y="1719072"/>
            <a:ext cx="1371600" cy="457200"/>
          </a:xfrm>
          <a:prstGeom prst="rect">
            <a:avLst/>
          </a:prstGeom>
          <a:solidFill>
            <a:srgbClr val="1A2640"/>
          </a:solidFill>
          <a:ln/>
        </p:spPr>
      </p:sp>
      <p:sp>
        <p:nvSpPr>
          <p:cNvPr id="27" name="Text 25"/>
          <p:cNvSpPr/>
          <p:nvPr/>
        </p:nvSpPr>
        <p:spPr>
          <a:xfrm>
            <a:off x="2359152" y="1719072"/>
            <a:ext cx="1225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</a:rPr>
              <a:t>泛用户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0" y="1719072"/>
            <a:ext cx="2194560" cy="457200"/>
          </a:xfrm>
          <a:prstGeom prst="rect">
            <a:avLst/>
          </a:prstGeom>
          <a:solidFill>
            <a:srgbClr val="1A2640"/>
          </a:solidFill>
          <a:ln/>
        </p:spPr>
      </p:sp>
      <p:sp>
        <p:nvSpPr>
          <p:cNvPr id="29" name="Text 27"/>
          <p:cNvSpPr/>
          <p:nvPr/>
        </p:nvSpPr>
        <p:spPr>
          <a:xfrm>
            <a:off x="3730752" y="1719072"/>
            <a:ext cx="20482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D060"/>
                </a:solidFill>
              </a:rPr>
              <a:t>开黑翻车集锦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852160" y="1719072"/>
            <a:ext cx="1371600" cy="457200"/>
          </a:xfrm>
          <a:prstGeom prst="rect">
            <a:avLst/>
          </a:prstGeom>
          <a:solidFill>
            <a:srgbClr val="1A2640"/>
          </a:solidFill>
          <a:ln/>
        </p:spPr>
      </p:sp>
      <p:sp>
        <p:nvSpPr>
          <p:cNvPr id="31" name="Text 29"/>
          <p:cNvSpPr/>
          <p:nvPr/>
        </p:nvSpPr>
        <p:spPr>
          <a:xfrm>
            <a:off x="5925312" y="1719072"/>
            <a:ext cx="1225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</a:rPr>
              <a:t>竖屏×2版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223760" y="1719072"/>
            <a:ext cx="1280160" cy="457200"/>
          </a:xfrm>
          <a:prstGeom prst="rect">
            <a:avLst/>
          </a:prstGeom>
          <a:solidFill>
            <a:srgbClr val="1A2640"/>
          </a:solidFill>
          <a:ln/>
        </p:spPr>
      </p:sp>
      <p:sp>
        <p:nvSpPr>
          <p:cNvPr id="33" name="Text 31"/>
          <p:cNvSpPr/>
          <p:nvPr/>
        </p:nvSpPr>
        <p:spPr>
          <a:xfrm>
            <a:off x="7296912" y="1719072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</a:rPr>
              <a:t>TikTok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" y="2176272"/>
            <a:ext cx="1828800" cy="457200"/>
          </a:xfrm>
          <a:prstGeom prst="rect">
            <a:avLst/>
          </a:prstGeom>
          <a:solidFill>
            <a:srgbClr val="1F2B45"/>
          </a:solidFill>
          <a:ln/>
        </p:spPr>
      </p:sp>
      <p:sp>
        <p:nvSpPr>
          <p:cNvPr id="35" name="Text 33"/>
          <p:cNvSpPr/>
          <p:nvPr/>
        </p:nvSpPr>
        <p:spPr>
          <a:xfrm>
            <a:off x="530352" y="2176272"/>
            <a:ext cx="1682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PVE实录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86000" y="2176272"/>
            <a:ext cx="1371600" cy="457200"/>
          </a:xfrm>
          <a:prstGeom prst="rect">
            <a:avLst/>
          </a:prstGeom>
          <a:solidFill>
            <a:srgbClr val="1F2B45"/>
          </a:solidFill>
          <a:ln/>
        </p:spPr>
      </p:sp>
      <p:sp>
        <p:nvSpPr>
          <p:cNvPr id="37" name="Text 35"/>
          <p:cNvSpPr/>
          <p:nvPr/>
        </p:nvSpPr>
        <p:spPr>
          <a:xfrm>
            <a:off x="2359152" y="2176272"/>
            <a:ext cx="1225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</a:rPr>
              <a:t>新手玩家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657600" y="2176272"/>
            <a:ext cx="2194560" cy="457200"/>
          </a:xfrm>
          <a:prstGeom prst="rect">
            <a:avLst/>
          </a:prstGeom>
          <a:solidFill>
            <a:srgbClr val="1F2B45"/>
          </a:solidFill>
          <a:ln/>
        </p:spPr>
      </p:sp>
      <p:sp>
        <p:nvSpPr>
          <p:cNvPr id="39" name="Text 37"/>
          <p:cNvSpPr/>
          <p:nvPr/>
        </p:nvSpPr>
        <p:spPr>
          <a:xfrm>
            <a:off x="3730752" y="2176272"/>
            <a:ext cx="20482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D060"/>
                </a:solidFill>
              </a:rPr>
              <a:t>新手友好 / 通关成就感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852160" y="2176272"/>
            <a:ext cx="1371600" cy="457200"/>
          </a:xfrm>
          <a:prstGeom prst="rect">
            <a:avLst/>
          </a:prstGeom>
          <a:solidFill>
            <a:srgbClr val="1F2B45"/>
          </a:solidFill>
          <a:ln/>
        </p:spPr>
      </p:sp>
      <p:sp>
        <p:nvSpPr>
          <p:cNvPr id="41" name="Text 39"/>
          <p:cNvSpPr/>
          <p:nvPr/>
        </p:nvSpPr>
        <p:spPr>
          <a:xfrm>
            <a:off x="5925312" y="2176272"/>
            <a:ext cx="1225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</a:rPr>
              <a:t>15-30s版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223760" y="2176272"/>
            <a:ext cx="1280160" cy="457200"/>
          </a:xfrm>
          <a:prstGeom prst="rect">
            <a:avLst/>
          </a:prstGeom>
          <a:solidFill>
            <a:srgbClr val="1F2B45"/>
          </a:solidFill>
          <a:ln/>
        </p:spPr>
      </p:sp>
      <p:sp>
        <p:nvSpPr>
          <p:cNvPr id="43" name="Text 41"/>
          <p:cNvSpPr/>
          <p:nvPr/>
        </p:nvSpPr>
        <p:spPr>
          <a:xfrm>
            <a:off x="7296912" y="2176272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</a:rPr>
              <a:t>YT/TikTok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57200" y="2633472"/>
            <a:ext cx="1828800" cy="457200"/>
          </a:xfrm>
          <a:prstGeom prst="rect">
            <a:avLst/>
          </a:prstGeom>
          <a:solidFill>
            <a:srgbClr val="1A2640"/>
          </a:solidFill>
          <a:ln/>
        </p:spPr>
      </p:sp>
      <p:sp>
        <p:nvSpPr>
          <p:cNvPr id="45" name="Text 43"/>
          <p:cNvSpPr/>
          <p:nvPr/>
        </p:nvSpPr>
        <p:spPr>
          <a:xfrm>
            <a:off x="530352" y="2633472"/>
            <a:ext cx="1682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3C对比（旧vs新）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286000" y="2633472"/>
            <a:ext cx="1371600" cy="457200"/>
          </a:xfrm>
          <a:prstGeom prst="rect">
            <a:avLst/>
          </a:prstGeom>
          <a:solidFill>
            <a:srgbClr val="1A2640"/>
          </a:solidFill>
          <a:ln/>
        </p:spPr>
      </p:sp>
      <p:sp>
        <p:nvSpPr>
          <p:cNvPr id="47" name="Text 45"/>
          <p:cNvSpPr/>
          <p:nvPr/>
        </p:nvSpPr>
        <p:spPr>
          <a:xfrm>
            <a:off x="2359152" y="2633472"/>
            <a:ext cx="1225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</a:rPr>
              <a:t>所有用户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657600" y="2633472"/>
            <a:ext cx="2194560" cy="457200"/>
          </a:xfrm>
          <a:prstGeom prst="rect">
            <a:avLst/>
          </a:prstGeom>
          <a:solidFill>
            <a:srgbClr val="1A2640"/>
          </a:solidFill>
          <a:ln/>
        </p:spPr>
      </p:sp>
      <p:sp>
        <p:nvSpPr>
          <p:cNvPr id="49" name="Text 47"/>
          <p:cNvSpPr/>
          <p:nvPr/>
        </p:nvSpPr>
        <p:spPr>
          <a:xfrm>
            <a:off x="3730752" y="2633472"/>
            <a:ext cx="20482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D060"/>
                </a:solidFill>
              </a:rPr>
              <a:t>视觉冲击 / 打击感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852160" y="2633472"/>
            <a:ext cx="1371600" cy="457200"/>
          </a:xfrm>
          <a:prstGeom prst="rect">
            <a:avLst/>
          </a:prstGeom>
          <a:solidFill>
            <a:srgbClr val="1A2640"/>
          </a:solidFill>
          <a:ln/>
        </p:spPr>
      </p:sp>
      <p:sp>
        <p:nvSpPr>
          <p:cNvPr id="51" name="Text 49"/>
          <p:cNvSpPr/>
          <p:nvPr/>
        </p:nvSpPr>
        <p:spPr>
          <a:xfrm>
            <a:off x="5925312" y="2633472"/>
            <a:ext cx="1225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</a:rPr>
              <a:t>并排对比视频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223760" y="2633472"/>
            <a:ext cx="1280160" cy="457200"/>
          </a:xfrm>
          <a:prstGeom prst="rect">
            <a:avLst/>
          </a:prstGeom>
          <a:solidFill>
            <a:srgbClr val="1A2640"/>
          </a:solidFill>
          <a:ln/>
        </p:spPr>
      </p:sp>
      <p:sp>
        <p:nvSpPr>
          <p:cNvPr id="53" name="Text 51"/>
          <p:cNvSpPr/>
          <p:nvPr/>
        </p:nvSpPr>
        <p:spPr>
          <a:xfrm>
            <a:off x="7296912" y="2633472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</a:rPr>
              <a:t>YT/FB/买量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57200" y="3090672"/>
            <a:ext cx="1828800" cy="457200"/>
          </a:xfrm>
          <a:prstGeom prst="rect">
            <a:avLst/>
          </a:prstGeom>
          <a:solidFill>
            <a:srgbClr val="1F2B45"/>
          </a:solidFill>
          <a:ln/>
        </p:spPr>
      </p:sp>
      <p:sp>
        <p:nvSpPr>
          <p:cNvPr id="55" name="Text 53"/>
          <p:cNvSpPr/>
          <p:nvPr/>
        </p:nvSpPr>
        <p:spPr>
          <a:xfrm>
            <a:off x="530352" y="3090672"/>
            <a:ext cx="1682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新英雄展示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2286000" y="3090672"/>
            <a:ext cx="1371600" cy="457200"/>
          </a:xfrm>
          <a:prstGeom prst="rect">
            <a:avLst/>
          </a:prstGeom>
          <a:solidFill>
            <a:srgbClr val="1F2B45"/>
          </a:solidFill>
          <a:ln/>
        </p:spPr>
      </p:sp>
      <p:sp>
        <p:nvSpPr>
          <p:cNvPr id="57" name="Text 55"/>
          <p:cNvSpPr/>
          <p:nvPr/>
        </p:nvSpPr>
        <p:spPr>
          <a:xfrm>
            <a:off x="2359152" y="3090672"/>
            <a:ext cx="1225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</a:rPr>
              <a:t>核心用户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3657600" y="3090672"/>
            <a:ext cx="2194560" cy="457200"/>
          </a:xfrm>
          <a:prstGeom prst="rect">
            <a:avLst/>
          </a:prstGeom>
          <a:solidFill>
            <a:srgbClr val="1F2B45"/>
          </a:solidFill>
          <a:ln/>
        </p:spPr>
      </p:sp>
      <p:sp>
        <p:nvSpPr>
          <p:cNvPr id="59" name="Text 57"/>
          <p:cNvSpPr/>
          <p:nvPr/>
        </p:nvSpPr>
        <p:spPr>
          <a:xfrm>
            <a:off x="3730752" y="3090672"/>
            <a:ext cx="20482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D060"/>
                </a:solidFill>
              </a:rPr>
              <a:t>技能展示 / 强度分析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5852160" y="3090672"/>
            <a:ext cx="1371600" cy="457200"/>
          </a:xfrm>
          <a:prstGeom prst="rect">
            <a:avLst/>
          </a:prstGeom>
          <a:solidFill>
            <a:srgbClr val="1F2B45"/>
          </a:solidFill>
          <a:ln/>
        </p:spPr>
      </p:sp>
      <p:sp>
        <p:nvSpPr>
          <p:cNvPr id="61" name="Text 59"/>
          <p:cNvSpPr/>
          <p:nvPr/>
        </p:nvSpPr>
        <p:spPr>
          <a:xfrm>
            <a:off x="5925312" y="3090672"/>
            <a:ext cx="1225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</a:rPr>
              <a:t>10s技能+立绘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7223760" y="3090672"/>
            <a:ext cx="1280160" cy="457200"/>
          </a:xfrm>
          <a:prstGeom prst="rect">
            <a:avLst/>
          </a:prstGeom>
          <a:solidFill>
            <a:srgbClr val="1F2B45"/>
          </a:solidFill>
          <a:ln/>
        </p:spPr>
      </p:sp>
      <p:sp>
        <p:nvSpPr>
          <p:cNvPr id="63" name="Text 61"/>
          <p:cNvSpPr/>
          <p:nvPr/>
        </p:nvSpPr>
        <p:spPr>
          <a:xfrm>
            <a:off x="7296912" y="3090672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</a:rPr>
              <a:t>YT/KOL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57200" y="3547872"/>
            <a:ext cx="1828800" cy="457200"/>
          </a:xfrm>
          <a:prstGeom prst="rect">
            <a:avLst/>
          </a:prstGeom>
          <a:solidFill>
            <a:srgbClr val="1A2640"/>
          </a:solidFill>
          <a:ln/>
        </p:spPr>
      </p:sp>
      <p:sp>
        <p:nvSpPr>
          <p:cNvPr id="65" name="Text 63"/>
          <p:cNvSpPr/>
          <p:nvPr/>
        </p:nvSpPr>
        <p:spPr>
          <a:xfrm>
            <a:off x="530352" y="3547872"/>
            <a:ext cx="1682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组队开黑片段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2286000" y="3547872"/>
            <a:ext cx="1371600" cy="457200"/>
          </a:xfrm>
          <a:prstGeom prst="rect">
            <a:avLst/>
          </a:prstGeom>
          <a:solidFill>
            <a:srgbClr val="1A2640"/>
          </a:solidFill>
          <a:ln/>
        </p:spPr>
      </p:sp>
      <p:sp>
        <p:nvSpPr>
          <p:cNvPr id="67" name="Text 65"/>
          <p:cNvSpPr/>
          <p:nvPr/>
        </p:nvSpPr>
        <p:spPr>
          <a:xfrm>
            <a:off x="2359152" y="3547872"/>
            <a:ext cx="1225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</a:rPr>
              <a:t>社交型玩家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3657600" y="3547872"/>
            <a:ext cx="2194560" cy="457200"/>
          </a:xfrm>
          <a:prstGeom prst="rect">
            <a:avLst/>
          </a:prstGeom>
          <a:solidFill>
            <a:srgbClr val="1A2640"/>
          </a:solidFill>
          <a:ln/>
        </p:spPr>
      </p:sp>
      <p:sp>
        <p:nvSpPr>
          <p:cNvPr id="69" name="Text 67"/>
          <p:cNvSpPr/>
          <p:nvPr/>
        </p:nvSpPr>
        <p:spPr>
          <a:xfrm>
            <a:off x="3730752" y="3547872"/>
            <a:ext cx="20482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D060"/>
                </a:solidFill>
              </a:rPr>
              <a:t>和朋友一起玩的乐趣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5852160" y="3547872"/>
            <a:ext cx="1371600" cy="457200"/>
          </a:xfrm>
          <a:prstGeom prst="rect">
            <a:avLst/>
          </a:prstGeom>
          <a:solidFill>
            <a:srgbClr val="1A2640"/>
          </a:solidFill>
          <a:ln/>
        </p:spPr>
      </p:sp>
      <p:sp>
        <p:nvSpPr>
          <p:cNvPr id="71" name="Text 69"/>
          <p:cNvSpPr/>
          <p:nvPr/>
        </p:nvSpPr>
        <p:spPr>
          <a:xfrm>
            <a:off x="5925312" y="3547872"/>
            <a:ext cx="1225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</a:rPr>
              <a:t>竖屏/横版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7223760" y="3547872"/>
            <a:ext cx="1280160" cy="457200"/>
          </a:xfrm>
          <a:prstGeom prst="rect">
            <a:avLst/>
          </a:prstGeom>
          <a:solidFill>
            <a:srgbClr val="1A2640"/>
          </a:solidFill>
          <a:ln/>
        </p:spPr>
      </p:sp>
      <p:sp>
        <p:nvSpPr>
          <p:cNvPr id="73" name="Text 71"/>
          <p:cNvSpPr/>
          <p:nvPr/>
        </p:nvSpPr>
        <p:spPr>
          <a:xfrm>
            <a:off x="7296912" y="3547872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</a:rPr>
              <a:t>TikTok/FB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457200" y="4005072"/>
            <a:ext cx="1828800" cy="457200"/>
          </a:xfrm>
          <a:prstGeom prst="rect">
            <a:avLst/>
          </a:prstGeom>
          <a:solidFill>
            <a:srgbClr val="1F2B45"/>
          </a:solidFill>
          <a:ln/>
        </p:spPr>
      </p:sp>
      <p:sp>
        <p:nvSpPr>
          <p:cNvPr id="75" name="Text 73"/>
          <p:cNvSpPr/>
          <p:nvPr/>
        </p:nvSpPr>
        <p:spPr>
          <a:xfrm>
            <a:off x="530352" y="4005072"/>
            <a:ext cx="1682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迷因向短剪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2286000" y="4005072"/>
            <a:ext cx="1371600" cy="457200"/>
          </a:xfrm>
          <a:prstGeom prst="rect">
            <a:avLst/>
          </a:prstGeom>
          <a:solidFill>
            <a:srgbClr val="1F2B45"/>
          </a:solidFill>
          <a:ln/>
        </p:spPr>
      </p:sp>
      <p:sp>
        <p:nvSpPr>
          <p:cNvPr id="77" name="Text 75"/>
          <p:cNvSpPr/>
          <p:nvPr/>
        </p:nvSpPr>
        <p:spPr>
          <a:xfrm>
            <a:off x="2359152" y="4005072"/>
            <a:ext cx="1225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</a:rPr>
              <a:t>泛用户/MZ世代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3657600" y="4005072"/>
            <a:ext cx="2194560" cy="457200"/>
          </a:xfrm>
          <a:prstGeom prst="rect">
            <a:avLst/>
          </a:prstGeom>
          <a:solidFill>
            <a:srgbClr val="1F2B45"/>
          </a:solidFill>
          <a:ln/>
        </p:spPr>
      </p:sp>
      <p:sp>
        <p:nvSpPr>
          <p:cNvPr id="79" name="Text 77"/>
          <p:cNvSpPr/>
          <p:nvPr/>
        </p:nvSpPr>
        <p:spPr>
          <a:xfrm>
            <a:off x="3730752" y="4005072"/>
            <a:ext cx="20482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D060"/>
                </a:solidFill>
              </a:rPr>
              <a:t>地牢翻车搞笑集锦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5852160" y="4005072"/>
            <a:ext cx="1371600" cy="457200"/>
          </a:xfrm>
          <a:prstGeom prst="rect">
            <a:avLst/>
          </a:prstGeom>
          <a:solidFill>
            <a:srgbClr val="1F2B45"/>
          </a:solidFill>
          <a:ln/>
        </p:spPr>
      </p:sp>
      <p:sp>
        <p:nvSpPr>
          <p:cNvPr id="81" name="Text 79"/>
          <p:cNvSpPr/>
          <p:nvPr/>
        </p:nvSpPr>
        <p:spPr>
          <a:xfrm>
            <a:off x="5925312" y="4005072"/>
            <a:ext cx="1225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</a:rPr>
              <a:t>5-10s梗视频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7223760" y="4005072"/>
            <a:ext cx="1280160" cy="457200"/>
          </a:xfrm>
          <a:prstGeom prst="rect">
            <a:avLst/>
          </a:prstGeom>
          <a:solidFill>
            <a:srgbClr val="1F2B45"/>
          </a:solidFill>
          <a:ln/>
        </p:spPr>
      </p:sp>
      <p:sp>
        <p:nvSpPr>
          <p:cNvPr id="83" name="Text 81"/>
          <p:cNvSpPr/>
          <p:nvPr/>
        </p:nvSpPr>
        <p:spPr>
          <a:xfrm>
            <a:off x="7296912" y="4005072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</a:rPr>
              <a:t>TikTok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457200" y="4462272"/>
            <a:ext cx="1828800" cy="457200"/>
          </a:xfrm>
          <a:prstGeom prst="rect">
            <a:avLst/>
          </a:prstGeom>
          <a:solidFill>
            <a:srgbClr val="1A2640"/>
          </a:solidFill>
          <a:ln/>
        </p:spPr>
      </p:sp>
      <p:sp>
        <p:nvSpPr>
          <p:cNvPr id="85" name="Text 83"/>
          <p:cNvSpPr/>
          <p:nvPr/>
        </p:nvSpPr>
        <p:spPr>
          <a:xfrm>
            <a:off x="530352" y="4462272"/>
            <a:ext cx="1682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玩家UGC二创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2286000" y="4462272"/>
            <a:ext cx="1371600" cy="457200"/>
          </a:xfrm>
          <a:prstGeom prst="rect">
            <a:avLst/>
          </a:prstGeom>
          <a:solidFill>
            <a:srgbClr val="1A2640"/>
          </a:solidFill>
          <a:ln/>
        </p:spPr>
      </p:sp>
      <p:sp>
        <p:nvSpPr>
          <p:cNvPr id="87" name="Text 85"/>
          <p:cNvSpPr/>
          <p:nvPr/>
        </p:nvSpPr>
        <p:spPr>
          <a:xfrm>
            <a:off x="2359152" y="4462272"/>
            <a:ext cx="1225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</a:rPr>
              <a:t>所有用户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3657600" y="4462272"/>
            <a:ext cx="2194560" cy="457200"/>
          </a:xfrm>
          <a:prstGeom prst="rect">
            <a:avLst/>
          </a:prstGeom>
          <a:solidFill>
            <a:srgbClr val="1A2640"/>
          </a:solidFill>
          <a:ln/>
        </p:spPr>
      </p:sp>
      <p:sp>
        <p:nvSpPr>
          <p:cNvPr id="89" name="Text 87"/>
          <p:cNvSpPr/>
          <p:nvPr/>
        </p:nvSpPr>
        <p:spPr>
          <a:xfrm>
            <a:off x="3730752" y="4462272"/>
            <a:ext cx="20482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D060"/>
                </a:solidFill>
              </a:rPr>
              <a:t>官方转发激励扩散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5852160" y="4462272"/>
            <a:ext cx="1371600" cy="457200"/>
          </a:xfrm>
          <a:prstGeom prst="rect">
            <a:avLst/>
          </a:prstGeom>
          <a:solidFill>
            <a:srgbClr val="1A2640"/>
          </a:solidFill>
          <a:ln/>
        </p:spPr>
      </p:sp>
      <p:sp>
        <p:nvSpPr>
          <p:cNvPr id="91" name="Text 89"/>
          <p:cNvSpPr/>
          <p:nvPr/>
        </p:nvSpPr>
        <p:spPr>
          <a:xfrm>
            <a:off x="5925312" y="4462272"/>
            <a:ext cx="1225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</a:rPr>
              <a:t>UGC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7223760" y="4462272"/>
            <a:ext cx="1280160" cy="457200"/>
          </a:xfrm>
          <a:prstGeom prst="rect">
            <a:avLst/>
          </a:prstGeom>
          <a:solidFill>
            <a:srgbClr val="1A2640"/>
          </a:solidFill>
          <a:ln/>
        </p:spPr>
      </p:sp>
      <p:sp>
        <p:nvSpPr>
          <p:cNvPr id="93" name="Text 91"/>
          <p:cNvSpPr/>
          <p:nvPr/>
        </p:nvSpPr>
        <p:spPr>
          <a:xfrm>
            <a:off x="7296912" y="4462272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</a:rPr>
              <a:t>社媒矩阵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 预计素材总量：各市场约 100-200 个组合，优先测试 Arena + 组队类素材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KOL矩阵（分层 × 宣传点 × CPM）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D060"/>
                </a:solidFill>
              </a:rPr>
              <a:t>类型：泛游戏主播为主，不采用纯垂类/Vtuber | OM为主，KOL按需决策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011680" cy="3794760"/>
          </a:xfrm>
          <a:prstGeom prst="rect">
            <a:avLst/>
          </a:prstGeom>
          <a:solidFill>
            <a:srgbClr val="1F2B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2011680" cy="59436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9728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Macro KOL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78308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F37"/>
                </a:solidFill>
              </a:rPr>
              <a:t>粉丝量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48640" y="196596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100万+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222199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F37"/>
                </a:solidFill>
              </a:rPr>
              <a:t>市场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48640" y="240487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巴西/墨西哥/哥伦比亚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2660904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F37"/>
                </a:solidFill>
              </a:rPr>
              <a:t>平台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48640" y="2843784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YouTube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309981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0D060"/>
                </a:solidFill>
              </a:rPr>
              <a:t>CPM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48640" y="328269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$10–15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53872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F37"/>
                </a:solidFill>
              </a:rPr>
              <a:t>对应宣传点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48640" y="372160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Pillar 1+2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8640" y="39776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F37"/>
                </a:solidFill>
              </a:rPr>
              <a:t>切入角度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48640" y="416052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品牌背书 + 泛用户破圈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8640" y="4434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AEC0"/>
                </a:solidFill>
              </a:rPr>
              <a:t>头部泛游戏主播，BR/LATAM为主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606040" y="1097280"/>
            <a:ext cx="2011680" cy="3794760"/>
          </a:xfrm>
          <a:prstGeom prst="rect">
            <a:avLst/>
          </a:prstGeom>
          <a:solidFill>
            <a:srgbClr val="1F2B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606040" y="1097280"/>
            <a:ext cx="2011680" cy="59436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3" name="Text 21"/>
          <p:cNvSpPr/>
          <p:nvPr/>
        </p:nvSpPr>
        <p:spPr>
          <a:xfrm>
            <a:off x="2606040" y="109728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Mid KOL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697480" y="178308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F37"/>
                </a:solidFill>
              </a:rPr>
              <a:t>粉丝量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697480" y="196596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10–100万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697480" y="222199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F37"/>
                </a:solidFill>
              </a:rPr>
              <a:t>市场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697480" y="240487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印尼/越南/巴西/墨西哥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697480" y="2660904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F37"/>
                </a:solidFill>
              </a:rPr>
              <a:t>平台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697480" y="2843784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TikTok + YouTube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697480" y="309981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0D060"/>
                </a:solidFill>
              </a:rPr>
              <a:t>CPM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697480" y="328269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$8–12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697480" y="353872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F37"/>
                </a:solidFill>
              </a:rPr>
              <a:t>对应宣传点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697480" y="372160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全部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697480" y="39776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F37"/>
                </a:solidFill>
              </a:rPr>
              <a:t>切入角度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697480" y="416052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深度实况 + Arena/PVE体验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697480" y="4434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AEC0"/>
                </a:solidFill>
              </a:rPr>
              <a:t>泛游戏实况主，TikTok原生内容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4754880" y="1097280"/>
            <a:ext cx="2011680" cy="3794760"/>
          </a:xfrm>
          <a:prstGeom prst="rect">
            <a:avLst/>
          </a:prstGeom>
          <a:solidFill>
            <a:srgbClr val="1F2B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54880" y="1097280"/>
            <a:ext cx="2011680" cy="59436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9" name="Text 37"/>
          <p:cNvSpPr/>
          <p:nvPr/>
        </p:nvSpPr>
        <p:spPr>
          <a:xfrm>
            <a:off x="4754880" y="109728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Micro KOL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846320" y="178308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F37"/>
                </a:solidFill>
              </a:rPr>
              <a:t>粉丝量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846320" y="196596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1–10万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846320" y="222199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F37"/>
                </a:solidFill>
              </a:rPr>
              <a:t>市场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846320" y="240487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印尼/越南/巴西/墨西哥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846320" y="2660904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F37"/>
                </a:solidFill>
              </a:rPr>
              <a:t>平台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846320" y="2843784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TikTok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846320" y="309981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0D060"/>
                </a:solidFill>
              </a:rPr>
              <a:t>CPM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846320" y="328269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$5–8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846320" y="353872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F37"/>
                </a:solidFill>
              </a:rPr>
              <a:t>对应宣传点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846320" y="372160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Pillar 2+3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846320" y="39776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F37"/>
                </a:solidFill>
              </a:rPr>
              <a:t>切入角度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846320" y="416052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素人口碑 + 真实反应 + Meme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846320" y="4434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AEC0"/>
                </a:solidFill>
              </a:rPr>
              <a:t>本地语言，TikTok原生竖屏内容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6903720" y="1097280"/>
            <a:ext cx="2011680" cy="3794760"/>
          </a:xfrm>
          <a:prstGeom prst="rect">
            <a:avLst/>
          </a:prstGeom>
          <a:solidFill>
            <a:srgbClr val="1F2B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6903720" y="1097280"/>
            <a:ext cx="2011680" cy="59436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55" name="Text 53"/>
          <p:cNvSpPr/>
          <p:nvPr/>
        </p:nvSpPr>
        <p:spPr>
          <a:xfrm>
            <a:off x="6903720" y="109728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Nano KOL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6995160" y="178308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F37"/>
                </a:solidFill>
              </a:rPr>
              <a:t>粉丝量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6995160" y="196596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1万以下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995160" y="222199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F37"/>
                </a:solidFill>
              </a:rPr>
              <a:t>市场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6995160" y="240487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全部5国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6995160" y="2660904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F37"/>
                </a:solidFill>
              </a:rPr>
              <a:t>平台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6995160" y="2843784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TikTok + Discord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995160" y="309981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0D060"/>
                </a:solidFill>
              </a:rPr>
              <a:t>CPM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6995160" y="328269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$2–5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6995160" y="353872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F37"/>
                </a:solidFill>
              </a:rPr>
              <a:t>对应宣传点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6995160" y="372160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Pillar 2+4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6995160" y="39776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F37"/>
                </a:solidFill>
              </a:rPr>
              <a:t>切入角度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6995160" y="416052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UGC扩散 + 种子用户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6995160" y="4434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AEC0"/>
                </a:solidFill>
              </a:rPr>
              <a:t>Star Cultivation Program，5K Gold/视频激励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CPM数据来源：G&amp;G印尼历史数据验证（TikTok官方$0.56、YouTube官方$0.29、KOL合作$10-20）；实际CPM因市场/季节浮动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4AF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目标市场分层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188720"/>
          </a:xfrm>
          <a:prstGeom prst="rect">
            <a:avLst/>
          </a:prstGeom>
          <a:solidFill>
            <a:srgbClr val="1F2B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73152" cy="118872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097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0000"/>
                </a:solidFill>
              </a:rPr>
              <a:t>全部目标市场 — 7月同步上线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4630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DF6E3"/>
                </a:solidFill>
              </a:rPr>
              <a:t>🇮🇩 印尼   🇻🇳 越南   🇲🇽 墨西哥   🇧🇷 巴西   🇨🇴 哥伦比亚   🇦🇷 阿根廷   🇨🇱 智利   🇺🇸 美国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84708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</a:rPr>
              <a:t>亚洲+拉美+美国同步发行，非分批上线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772400" y="1097280"/>
            <a:ext cx="731520" cy="73152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0" y="10972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4AF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推广时间轴（关键节点）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057400" y="1737360"/>
            <a:ext cx="9144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1554480" cy="868680"/>
          </a:xfrm>
          <a:prstGeom prst="rect">
            <a:avLst/>
          </a:prstGeom>
          <a:solidFill>
            <a:srgbClr val="1F2B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39903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DF6E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3月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DF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准备期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929384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评分+本地化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749040" y="1737360"/>
            <a:ext cx="9144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48840" y="1371600"/>
            <a:ext cx="1554480" cy="868680"/>
          </a:xfrm>
          <a:prstGeom prst="rect">
            <a:avLst/>
          </a:prstGeom>
          <a:solidFill>
            <a:srgbClr val="1F2B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148840" y="139903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DF6E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4–5月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148840" y="1691640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DF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停服维护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148840" y="1929384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素材储备+KOL接触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40680" y="1737360"/>
            <a:ext cx="9144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0480" y="1371600"/>
            <a:ext cx="1554480" cy="868680"/>
          </a:xfrm>
          <a:prstGeom prst="rect">
            <a:avLst/>
          </a:prstGeom>
          <a:solidFill>
            <a:srgbClr val="D4AF37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840480" y="139903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6月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840480" y="1691640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预热期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840480" y="1929384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D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官宣+预约开放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132320" y="1737360"/>
            <a:ext cx="9144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532120" y="1371600"/>
            <a:ext cx="1554480" cy="868680"/>
          </a:xfrm>
          <a:prstGeom prst="rect">
            <a:avLst/>
          </a:prstGeom>
          <a:solidFill>
            <a:srgbClr val="C00000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532120" y="139903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7月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532120" y="1691640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大版本爆发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532120" y="1929384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D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全力投放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223760" y="1371600"/>
            <a:ext cx="1554480" cy="868680"/>
          </a:xfrm>
          <a:prstGeom prst="rect">
            <a:avLst/>
          </a:prstGeom>
          <a:solidFill>
            <a:srgbClr val="1F2B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223760" y="139903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DF6E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8月+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223760" y="1691640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DF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长尾运营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223760" y="1929384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赛季+内容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2468880"/>
            <a:ext cx="8229600" cy="246888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94360" y="256032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各阶段关键执行动作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94360" y="2907792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D060"/>
                </a:solidFill>
              </a:rPr>
              <a:t>准备期 3月：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783080" y="2907792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评分改善（3.7→3.8）；本地化完成；KOL名单确认；广告素材制作（初版）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94360" y="3438144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D060"/>
                </a:solidFill>
              </a:rPr>
              <a:t>停服维护 4–5月：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783080" y="3438144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素材真机录制；Nano/Micro KOL 预接触；买量素材制作；预约页面准备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94360" y="3968496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D060"/>
                </a:solidFill>
              </a:rPr>
              <a:t>预热期 6月：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783080" y="3968496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06/01官方预告→06/15 Nano KOL前瞻→06/20 Mid KOL实况→06/25预约开放+商店截图更新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663440" y="2907792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D060"/>
                </a:solidFill>
              </a:rPr>
              <a:t>爆发期 7月：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852160" y="2907792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T-3:预告片上线→T日:Mid/Macro KOL同步爆发→T+7:全渠道买量加投→T+14:BP发售+限量皮肤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663440" y="3438144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D060"/>
                </a:solidFill>
              </a:rPr>
              <a:t>长尾期 8月+：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852160" y="3438144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每6–8周新赛季+新英雄；持续攻略内容；UGC二创激励；流失用户召回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4AF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预算分配建议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914400"/>
          <a:ext cx="41148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754880" y="9144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渠道预算权重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754880" y="1371600"/>
            <a:ext cx="3931920" cy="566928"/>
          </a:xfrm>
          <a:prstGeom prst="rect">
            <a:avLst/>
          </a:prstGeom>
          <a:solidFill>
            <a:srgbClr val="1F2B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754880" y="1371600"/>
            <a:ext cx="640080" cy="56692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8" name="Text 5"/>
          <p:cNvSpPr/>
          <p:nvPr/>
        </p:nvSpPr>
        <p:spPr>
          <a:xfrm>
            <a:off x="4754880" y="1371600"/>
            <a:ext cx="640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35%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0" y="14173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DF6E3"/>
                </a:solidFill>
              </a:rPr>
              <a:t>TikTok Ads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0" y="1673352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</a:rPr>
              <a:t>年轻用户主力平台 · CPM $0.5-1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754880" y="2029968"/>
            <a:ext cx="3931920" cy="566928"/>
          </a:xfrm>
          <a:prstGeom prst="rect">
            <a:avLst/>
          </a:prstGeom>
          <a:solidFill>
            <a:srgbClr val="1F2B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0" y="2029968"/>
            <a:ext cx="640080" cy="56692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3" name="Text 10"/>
          <p:cNvSpPr/>
          <p:nvPr/>
        </p:nvSpPr>
        <p:spPr>
          <a:xfrm>
            <a:off x="4754880" y="2029968"/>
            <a:ext cx="640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25%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486400" y="207568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DF6E3"/>
                </a:solidFill>
              </a:rPr>
              <a:t>Meta Ads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486400" y="233172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</a:rPr>
              <a:t>触达面广 · CPM $2-3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754880" y="2688336"/>
            <a:ext cx="3931920" cy="566928"/>
          </a:xfrm>
          <a:prstGeom prst="rect">
            <a:avLst/>
          </a:prstGeom>
          <a:solidFill>
            <a:srgbClr val="1F2B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754880" y="2688336"/>
            <a:ext cx="640080" cy="56692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8" name="Text 15"/>
          <p:cNvSpPr/>
          <p:nvPr/>
        </p:nvSpPr>
        <p:spPr>
          <a:xfrm>
            <a:off x="4754880" y="2688336"/>
            <a:ext cx="640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20%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486400" y="273405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DF6E3"/>
                </a:solidFill>
              </a:rPr>
              <a:t>Google UAC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486400" y="2990088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</a:rPr>
              <a:t>Search + Play双覆盖 · CPM $3-5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4754880" y="3346704"/>
            <a:ext cx="3931920" cy="566928"/>
          </a:xfrm>
          <a:prstGeom prst="rect">
            <a:avLst/>
          </a:prstGeom>
          <a:solidFill>
            <a:srgbClr val="1F2B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754880" y="3346704"/>
            <a:ext cx="640080" cy="56692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3" name="Text 20"/>
          <p:cNvSpPr/>
          <p:nvPr/>
        </p:nvSpPr>
        <p:spPr>
          <a:xfrm>
            <a:off x="4754880" y="3346704"/>
            <a:ext cx="640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15%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486400" y="3392424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DF6E3"/>
                </a:solidFill>
              </a:rPr>
              <a:t>KOL合作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486400" y="3648456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</a:rPr>
              <a:t>泛游戏主播为主 · CPM $10-15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4754880" y="4005072"/>
            <a:ext cx="3931920" cy="566928"/>
          </a:xfrm>
          <a:prstGeom prst="rect">
            <a:avLst/>
          </a:prstGeom>
          <a:solidFill>
            <a:srgbClr val="1F2B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754880" y="4005072"/>
            <a:ext cx="640080" cy="56692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8" name="Text 25"/>
          <p:cNvSpPr/>
          <p:nvPr/>
        </p:nvSpPr>
        <p:spPr>
          <a:xfrm>
            <a:off x="4754880" y="4005072"/>
            <a:ext cx="640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5%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5486400" y="405079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DF6E3"/>
                </a:solidFill>
              </a:rPr>
              <a:t>PR / ASO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5486400" y="4306824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</a:rPr>
              <a:t>里程碑传播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CPM数据来源：G&amp;G印尼历史数据（TikTok官方$0.56、YouTube官方$0.29、KOL $10-20）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4AF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立即行动项（4–6月）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EC0"/>
                </a:solidFill>
              </a:rPr>
              <a:t>停服维护期 · 准备冲刺阶段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697480" cy="3611880"/>
          </a:xfrm>
          <a:prstGeom prst="rect">
            <a:avLst/>
          </a:prstGeom>
          <a:solidFill>
            <a:srgbClr val="1F2B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2697480" cy="4572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8872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P0 — 最高优先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1783080"/>
            <a:ext cx="228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00000"/>
                </a:solidFill>
              </a:rPr>
              <a:t>→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4672" y="178308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F6E3"/>
                </a:solidFill>
              </a:rPr>
              <a:t>评分改善（3.7→3.8，目标4.0）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" y="2496312"/>
            <a:ext cx="228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00000"/>
                </a:solidFill>
              </a:rPr>
              <a:t>→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04672" y="2496312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F6E3"/>
                </a:solidFill>
              </a:rPr>
              <a:t>印尼/越南/巴西本地化（6月中前）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6928" y="3209544"/>
            <a:ext cx="228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00000"/>
                </a:solidFill>
              </a:rPr>
              <a:t>→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04672" y="3209544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F6E3"/>
                </a:solidFill>
              </a:rPr>
              <a:t>KOL名单确认（5月底前）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6928" y="3922776"/>
            <a:ext cx="228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00000"/>
                </a:solidFill>
              </a:rPr>
              <a:t>→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4672" y="3922776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F6E3"/>
                </a:solidFill>
              </a:rPr>
              <a:t>广告素材制作（6月中前）：Arena实况×3版 / PVE实录 / 3C对比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91840" y="1188720"/>
            <a:ext cx="2697480" cy="3611880"/>
          </a:xfrm>
          <a:prstGeom prst="rect">
            <a:avLst/>
          </a:prstGeom>
          <a:solidFill>
            <a:srgbClr val="1F2B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91840" y="1188720"/>
            <a:ext cx="2697480" cy="4572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8" name="Text 16"/>
          <p:cNvSpPr/>
          <p:nvPr/>
        </p:nvSpPr>
        <p:spPr>
          <a:xfrm>
            <a:off x="3291840" y="118872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P1 — 重要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01568" y="1783080"/>
            <a:ext cx="228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4AF37"/>
                </a:solidFill>
              </a:rPr>
              <a:t>→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39312" y="178308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F6E3"/>
                </a:solidFill>
              </a:rPr>
              <a:t>预约页面开放（6月中）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01568" y="2496312"/>
            <a:ext cx="228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4AF37"/>
                </a:solidFill>
              </a:rPr>
              <a:t>→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39312" y="2496312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F6E3"/>
                </a:solidFill>
              </a:rPr>
              <a:t>Discord社区激活（持续）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01568" y="3209544"/>
            <a:ext cx="228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4AF37"/>
                </a:solidFill>
              </a:rPr>
              <a:t>→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39312" y="3209544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F6E3"/>
                </a:solidFill>
              </a:rPr>
              <a:t>买量素材制作（TikTok竖屏各2版）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26480" y="1188720"/>
            <a:ext cx="2697480" cy="3611880"/>
          </a:xfrm>
          <a:prstGeom prst="rect">
            <a:avLst/>
          </a:prstGeom>
          <a:solidFill>
            <a:srgbClr val="1F2B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26480" y="1188720"/>
            <a:ext cx="2697480" cy="457200"/>
          </a:xfrm>
          <a:prstGeom prst="rect">
            <a:avLst/>
          </a:prstGeom>
          <a:solidFill>
            <a:srgbClr val="A0AEC0"/>
          </a:solidFill>
          <a:ln/>
        </p:spPr>
      </p:sp>
      <p:sp>
        <p:nvSpPr>
          <p:cNvPr id="27" name="Text 25"/>
          <p:cNvSpPr/>
          <p:nvPr/>
        </p:nvSpPr>
        <p:spPr>
          <a:xfrm>
            <a:off x="6126480" y="118872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P2 — 跟进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36208" y="1783080"/>
            <a:ext cx="228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</a:rPr>
              <a:t>→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73952" y="178308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F6E3"/>
                </a:solidFill>
              </a:rPr>
              <a:t>智利/阿根廷/美国本地化（7月前）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36208" y="2496312"/>
            <a:ext cx="228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</a:rPr>
              <a:t>→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73952" y="2496312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F6E3"/>
                </a:solidFill>
              </a:rPr>
              <a:t>日本市场评估（Q3决策）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36208" y="3209544"/>
            <a:ext cx="228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</a:rPr>
              <a:t>→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473952" y="3209544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F6E3"/>
                </a:solidFill>
              </a:rPr>
              <a:t>KOL正式合作谈判（6月前）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4AF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下一步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0" y="2103120"/>
            <a:ext cx="182880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0" y="23774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DF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确认7月大版本最终上线日期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86000" y="2852928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DF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启动印尼/越南/巴西本地化工作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286000" y="3328416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DF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接触首批 Nano + Micro KOL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286000" y="3803904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DF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制作 Arena 真机实况素材（第一批）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0D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目标：7月爆发期全力冲击下载 + 榜单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Gold and Glory — 7月大版本发行策略</dc:title>
  <dc:subject>PptxGenJS Presentation</dc:subject>
  <dc:creator>Game Publishing AI</dc:creator>
  <cp:lastModifiedBy>Game Publishing AI</cp:lastModifiedBy>
  <cp:revision>1</cp:revision>
  <dcterms:created xsi:type="dcterms:W3CDTF">2026-04-01T07:37:56Z</dcterms:created>
  <dcterms:modified xsi:type="dcterms:W3CDTF">2026-04-01T07:37:56Z</dcterms:modified>
</cp:coreProperties>
</file>